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70" r:id="rId3"/>
    <p:sldId id="257" r:id="rId4"/>
    <p:sldId id="258" r:id="rId5"/>
    <p:sldId id="259" r:id="rId6"/>
    <p:sldId id="260" r:id="rId7"/>
    <p:sldId id="261" r:id="rId8"/>
    <p:sldId id="262" r:id="rId9"/>
    <p:sldId id="269" r:id="rId10"/>
    <p:sldId id="263" r:id="rId11"/>
    <p:sldId id="264" r:id="rId12"/>
    <p:sldId id="265" r:id="rId13"/>
    <p:sldId id="266" r:id="rId14"/>
    <p:sldId id="267" r:id="rId15"/>
    <p:sldId id="268" r:id="rId16"/>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5" d="100"/>
          <a:sy n="75" d="100"/>
        </p:scale>
        <p:origin x="1047" y="7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9/1/2026</a:t>
            </a:fld>
            <a:endParaRPr lang="en-US" dirty="0"/>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9/1/2026</a:t>
            </a:fld>
            <a:endParaRPr lang="en-US" dirty="0"/>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9/1/2026</a:t>
            </a:fld>
            <a:endParaRPr lang="en-US" dirty="0"/>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9/1/2026</a:t>
            </a:fld>
            <a:endParaRPr lang="en-US" dirty="0"/>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496893" y="475805"/>
            <a:ext cx="7198212" cy="695960"/>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a:xfrm>
            <a:off x="743580" y="1528065"/>
            <a:ext cx="5393690" cy="1732279"/>
          </a:xfrm>
          <a:prstGeom prst="rect">
            <a:avLst/>
          </a:prstGeom>
        </p:spPr>
        <p:txBody>
          <a:bodyPr wrap="square" lIns="0" tIns="0" rIns="0" bIns="0">
            <a:spAutoFit/>
          </a:bodyPr>
          <a:lstStyle>
            <a:lvl1pPr>
              <a:defRPr sz="3200" b="0" i="0">
                <a:solidFill>
                  <a:schemeClr val="tx1"/>
                </a:solidFill>
                <a:latin typeface="Calibri"/>
                <a:cs typeface="Calibri"/>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dirty="0"/>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9/1/2026</a:t>
            </a:fld>
            <a:endParaRPr lang="en-US" dirty="0"/>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92468" y="2098830"/>
            <a:ext cx="9175532" cy="1367041"/>
          </a:xfrm>
          <a:prstGeom prst="rect">
            <a:avLst/>
          </a:prstGeom>
        </p:spPr>
        <p:txBody>
          <a:bodyPr vert="horz" wrap="square" lIns="73152" tIns="73152" rIns="73152" bIns="73152" rtlCol="0">
            <a:spAutoFit/>
          </a:bodyPr>
          <a:lstStyle/>
          <a:p>
            <a:pPr marL="12700" algn="ctr">
              <a:lnSpc>
                <a:spcPct val="100000"/>
              </a:lnSpc>
              <a:spcBef>
                <a:spcPts val="100"/>
              </a:spcBef>
            </a:pPr>
            <a:r>
              <a:rPr sz="3000" b="1" dirty="0">
                <a:solidFill>
                  <a:srgbClr val="202D48"/>
                </a:solidFill>
                <a:latin typeface="Times New Roman"/>
              </a:rPr>
              <a:t>Cloud-Based Collaborative Document Editing
and Version Control Platform</a:t>
            </a:r>
            <a:endParaRPr spc="-10" dirty="0"/>
          </a:p>
        </p:txBody>
      </p:sp>
      <p:sp>
        <p:nvSpPr>
          <p:cNvPr id="3" name="object 3"/>
          <p:cNvSpPr txBox="1"/>
          <p:nvPr/>
        </p:nvSpPr>
        <p:spPr>
          <a:xfrm>
            <a:off x="3200400" y="3581400"/>
            <a:ext cx="5430409" cy="3062377"/>
          </a:xfrm>
          <a:prstGeom prst="rect">
            <a:avLst/>
          </a:prstGeom>
        </p:spPr>
        <p:txBody>
          <a:bodyPr vert="horz" wrap="square" lIns="73152" tIns="73152" rIns="73152" bIns="73152" rtlCol="0">
            <a:spAutoFit/>
          </a:bodyPr>
          <a:lstStyle/>
          <a:p>
            <a:pPr marL="3810" algn="ctr">
              <a:lnSpc>
                <a:spcPts val="3200"/>
              </a:lnSpc>
              <a:spcBef>
                <a:spcPts val="120"/>
              </a:spcBef>
            </a:pPr>
            <a:r>
              <a:rPr sz="2000" dirty="0">
                <a:solidFill>
                  <a:schemeClr val="tx1"/>
                </a:solidFill>
                <a:latin typeface="Times New Roman"/>
              </a:rPr>
              <a:t>Presented by:
Shri Shanmuga Priya K </a:t>
            </a:r>
            <a:r>
              <a:rPr lang="en-IN" sz="2000" dirty="0">
                <a:solidFill>
                  <a:schemeClr val="tx1"/>
                </a:solidFill>
                <a:latin typeface="Times New Roman"/>
              </a:rPr>
              <a:t>–</a:t>
            </a:r>
            <a:r>
              <a:rPr sz="2000" dirty="0">
                <a:solidFill>
                  <a:schemeClr val="tx1"/>
                </a:solidFill>
                <a:latin typeface="Times New Roman"/>
              </a:rPr>
              <a:t> 192324035</a:t>
            </a:r>
            <a:endParaRPr lang="en-IN" sz="2000" dirty="0">
              <a:solidFill>
                <a:schemeClr val="tx1"/>
              </a:solidFill>
              <a:latin typeface="Times New Roman"/>
            </a:endParaRPr>
          </a:p>
          <a:p>
            <a:pPr marL="3810" algn="ctr">
              <a:lnSpc>
                <a:spcPts val="3200"/>
              </a:lnSpc>
              <a:spcBef>
                <a:spcPts val="120"/>
              </a:spcBef>
            </a:pPr>
            <a:r>
              <a:rPr lang="en-IN" sz="2000" dirty="0">
                <a:solidFill>
                  <a:schemeClr val="tx1"/>
                </a:solidFill>
                <a:latin typeface="Times New Roman"/>
              </a:rPr>
              <a:t>Ankala Lakshmi-192373066</a:t>
            </a:r>
            <a:r>
              <a:rPr sz="2000" dirty="0">
                <a:solidFill>
                  <a:schemeClr val="tx1"/>
                </a:solidFill>
                <a:latin typeface="Times New Roman"/>
              </a:rPr>
              <a:t>
</a:t>
            </a:r>
            <a:r>
              <a:rPr lang="en-IN" sz="2000" dirty="0">
                <a:solidFill>
                  <a:schemeClr val="tx1"/>
                </a:solidFill>
                <a:latin typeface="Times New Roman"/>
              </a:rPr>
              <a:t>CSA1522-Cloud Computing &amp;Big Data Analytics</a:t>
            </a:r>
          </a:p>
          <a:p>
            <a:pPr marL="3810" algn="ctr">
              <a:lnSpc>
                <a:spcPts val="3200"/>
              </a:lnSpc>
              <a:spcBef>
                <a:spcPts val="120"/>
              </a:spcBef>
            </a:pPr>
            <a:r>
              <a:rPr lang="en-IN" sz="2000" dirty="0">
                <a:solidFill>
                  <a:schemeClr val="tx1"/>
                </a:solidFill>
                <a:latin typeface="Times New Roman"/>
              </a:rPr>
              <a:t>Guided by</a:t>
            </a:r>
          </a:p>
          <a:p>
            <a:pPr marL="3810" algn="ctr">
              <a:lnSpc>
                <a:spcPts val="3200"/>
              </a:lnSpc>
              <a:spcBef>
                <a:spcPts val="120"/>
              </a:spcBef>
            </a:pPr>
            <a:r>
              <a:rPr lang="en-IN" sz="2000" dirty="0">
                <a:solidFill>
                  <a:schemeClr val="tx1"/>
                </a:solidFill>
                <a:latin typeface="Times New Roman"/>
              </a:rPr>
              <a:t>Dr. P. Rajaram</a:t>
            </a:r>
            <a:r>
              <a:rPr sz="2000" b="0" dirty="0">
                <a:solidFill>
                  <a:srgbClr val="5F6E87"/>
                </a:solidFill>
                <a:latin typeface="Times New Roman"/>
              </a:rPr>
              <a:t>
</a:t>
            </a:r>
            <a:endParaRPr sz="2700" dirty="0">
              <a:latin typeface="Calibri"/>
              <a:cs typeface="Calibri"/>
            </a:endParaRPr>
          </a:p>
        </p:txBody>
      </p:sp>
      <p:pic>
        <p:nvPicPr>
          <p:cNvPr id="4" name="object 4"/>
          <p:cNvPicPr/>
          <p:nvPr/>
        </p:nvPicPr>
        <p:blipFill>
          <a:blip r:embed="rId2" cstate="print"/>
          <a:stretch>
            <a:fillRect/>
          </a:stretch>
        </p:blipFill>
        <p:spPr>
          <a:xfrm>
            <a:off x="357352" y="191626"/>
            <a:ext cx="1135116" cy="1342883"/>
          </a:xfrm>
          <a:prstGeom prst="rect">
            <a:avLst/>
          </a:prstGeom>
        </p:spPr>
      </p:pic>
      <p:pic>
        <p:nvPicPr>
          <p:cNvPr id="5" name="object 5"/>
          <p:cNvPicPr/>
          <p:nvPr/>
        </p:nvPicPr>
        <p:blipFill>
          <a:blip r:embed="rId3" cstate="print"/>
          <a:stretch>
            <a:fillRect/>
          </a:stretch>
        </p:blipFill>
        <p:spPr>
          <a:xfrm>
            <a:off x="10514231" y="191626"/>
            <a:ext cx="1520113" cy="134288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CF404-F5D0-5847-4E6B-EBD32C8546CC}"/>
              </a:ext>
            </a:extLst>
          </p:cNvPr>
          <p:cNvSpPr>
            <a:spLocks noGrp="1"/>
          </p:cNvSpPr>
          <p:nvPr>
            <p:ph type="title"/>
          </p:nvPr>
        </p:nvSpPr>
        <p:spPr>
          <a:xfrm>
            <a:off x="2496893" y="475805"/>
            <a:ext cx="7198212" cy="461665"/>
          </a:xfrm>
        </p:spPr>
        <p:txBody>
          <a:bodyPr/>
          <a:lstStyle/>
          <a:p>
            <a:pPr algn="ctr"/>
            <a:r>
              <a:rPr lang="en-IN" sz="3000" dirty="0">
                <a:solidFill>
                  <a:schemeClr val="accent4"/>
                </a:solidFill>
                <a:latin typeface="Times New Roman" panose="02020603050405020304" pitchFamily="18" charset="0"/>
                <a:cs typeface="Times New Roman" panose="02020603050405020304" pitchFamily="18" charset="0"/>
              </a:rPr>
              <a:t>Table of Content</a:t>
            </a:r>
          </a:p>
        </p:txBody>
      </p:sp>
      <p:pic>
        <p:nvPicPr>
          <p:cNvPr id="7" name="object 4">
            <a:extLst>
              <a:ext uri="{FF2B5EF4-FFF2-40B4-BE49-F238E27FC236}">
                <a16:creationId xmlns:a16="http://schemas.microsoft.com/office/drawing/2014/main" id="{C619F719-8CD8-C928-D5F9-313F8AD72E2B}"/>
              </a:ext>
            </a:extLst>
          </p:cNvPr>
          <p:cNvPicPr/>
          <p:nvPr/>
        </p:nvPicPr>
        <p:blipFill>
          <a:blip r:embed="rId2" cstate="print"/>
          <a:stretch>
            <a:fillRect/>
          </a:stretch>
        </p:blipFill>
        <p:spPr>
          <a:xfrm>
            <a:off x="357352" y="191626"/>
            <a:ext cx="1135116" cy="1342883"/>
          </a:xfrm>
          <a:prstGeom prst="rect">
            <a:avLst/>
          </a:prstGeom>
        </p:spPr>
      </p:pic>
      <p:pic>
        <p:nvPicPr>
          <p:cNvPr id="9" name="object 5">
            <a:extLst>
              <a:ext uri="{FF2B5EF4-FFF2-40B4-BE49-F238E27FC236}">
                <a16:creationId xmlns:a16="http://schemas.microsoft.com/office/drawing/2014/main" id="{3D6A402C-5FD7-477A-4964-601867AB10F7}"/>
              </a:ext>
            </a:extLst>
          </p:cNvPr>
          <p:cNvPicPr/>
          <p:nvPr/>
        </p:nvPicPr>
        <p:blipFill>
          <a:blip r:embed="rId3" cstate="print"/>
          <a:stretch>
            <a:fillRect/>
          </a:stretch>
        </p:blipFill>
        <p:spPr>
          <a:xfrm>
            <a:off x="10514231" y="191626"/>
            <a:ext cx="1520113" cy="1342883"/>
          </a:xfrm>
          <a:prstGeom prst="rect">
            <a:avLst/>
          </a:prstGeom>
        </p:spPr>
      </p:pic>
      <p:graphicFrame>
        <p:nvGraphicFramePr>
          <p:cNvPr id="10" name="Table 9">
            <a:extLst>
              <a:ext uri="{FF2B5EF4-FFF2-40B4-BE49-F238E27FC236}">
                <a16:creationId xmlns:a16="http://schemas.microsoft.com/office/drawing/2014/main" id="{A4B2EA3F-F80F-C5FC-DF46-A686DA642500}"/>
              </a:ext>
            </a:extLst>
          </p:cNvPr>
          <p:cNvGraphicFramePr>
            <a:graphicFrameLocks noGrp="1"/>
          </p:cNvGraphicFramePr>
          <p:nvPr>
            <p:extLst>
              <p:ext uri="{D42A27DB-BD31-4B8C-83A1-F6EECF244321}">
                <p14:modId xmlns:p14="http://schemas.microsoft.com/office/powerpoint/2010/main" val="425834803"/>
              </p:ext>
            </p:extLst>
          </p:nvPr>
        </p:nvGraphicFramePr>
        <p:xfrm>
          <a:off x="3018068" y="1534509"/>
          <a:ext cx="7086600" cy="4847687"/>
        </p:xfrm>
        <a:graphic>
          <a:graphicData uri="http://schemas.openxmlformats.org/drawingml/2006/table">
            <a:tbl>
              <a:tblPr firstRow="1" bandRow="1">
                <a:tableStyleId>{5940675A-B579-460E-94D1-54222C63F5DA}</a:tableStyleId>
              </a:tblPr>
              <a:tblGrid>
                <a:gridCol w="2849332">
                  <a:extLst>
                    <a:ext uri="{9D8B030D-6E8A-4147-A177-3AD203B41FA5}">
                      <a16:colId xmlns:a16="http://schemas.microsoft.com/office/drawing/2014/main" val="1023243945"/>
                    </a:ext>
                  </a:extLst>
                </a:gridCol>
                <a:gridCol w="4237268">
                  <a:extLst>
                    <a:ext uri="{9D8B030D-6E8A-4147-A177-3AD203B41FA5}">
                      <a16:colId xmlns:a16="http://schemas.microsoft.com/office/drawing/2014/main" val="1598166178"/>
                    </a:ext>
                  </a:extLst>
                </a:gridCol>
              </a:tblGrid>
              <a:tr h="372899">
                <a:tc>
                  <a:txBody>
                    <a:bodyPr/>
                    <a:lstStyle/>
                    <a:p>
                      <a:pPr algn="ctr">
                        <a:buNone/>
                      </a:pPr>
                      <a:r>
                        <a:rPr lang="en-IN" sz="1800" b="1" dirty="0">
                          <a:latin typeface="Times New Roman" panose="02020603050405020304" pitchFamily="18" charset="0"/>
                          <a:cs typeface="Times New Roman" panose="02020603050405020304" pitchFamily="18" charset="0"/>
                        </a:rPr>
                        <a:t>S. No.</a:t>
                      </a:r>
                    </a:p>
                  </a:txBody>
                  <a:tcPr marL="24742" marR="24742" marT="12371" marB="12371" anchor="ctr"/>
                </a:tc>
                <a:tc>
                  <a:txBody>
                    <a:bodyPr/>
                    <a:lstStyle/>
                    <a:p>
                      <a:pPr algn="ctr">
                        <a:buNone/>
                      </a:pPr>
                      <a:r>
                        <a:rPr lang="en-IN" sz="1800" b="1" dirty="0">
                          <a:latin typeface="Times New Roman" panose="02020603050405020304" pitchFamily="18" charset="0"/>
                          <a:cs typeface="Times New Roman" panose="02020603050405020304" pitchFamily="18" charset="0"/>
                        </a:rPr>
                        <a:t>Contents</a:t>
                      </a:r>
                    </a:p>
                  </a:txBody>
                  <a:tcPr marL="24742" marR="24742" marT="12371" marB="12371" anchor="ctr"/>
                </a:tc>
                <a:extLst>
                  <a:ext uri="{0D108BD9-81ED-4DB2-BD59-A6C34878D82A}">
                    <a16:rowId xmlns:a16="http://schemas.microsoft.com/office/drawing/2014/main" val="3950992817"/>
                  </a:ext>
                </a:extLst>
              </a:tr>
              <a:tr h="372899">
                <a:tc>
                  <a:txBody>
                    <a:bodyPr/>
                    <a:lstStyle/>
                    <a:p>
                      <a:pPr algn="ctr">
                        <a:buNone/>
                      </a:pPr>
                      <a:r>
                        <a:rPr lang="en-IN" sz="1800" dirty="0">
                          <a:latin typeface="Times New Roman" panose="02020603050405020304" pitchFamily="18" charset="0"/>
                          <a:cs typeface="Times New Roman" panose="02020603050405020304" pitchFamily="18" charset="0"/>
                        </a:rPr>
                        <a:t>1</a:t>
                      </a:r>
                    </a:p>
                  </a:txBody>
                  <a:tcPr marL="24742" marR="24742" marT="12371" marB="12371" anchor="ctr"/>
                </a:tc>
                <a:tc>
                  <a:txBody>
                    <a:bodyPr/>
                    <a:lstStyle/>
                    <a:p>
                      <a:pPr algn="ctr">
                        <a:buNone/>
                      </a:pPr>
                      <a:r>
                        <a:rPr lang="en-IN" sz="1800" dirty="0">
                          <a:latin typeface="Times New Roman" panose="02020603050405020304" pitchFamily="18" charset="0"/>
                          <a:cs typeface="Times New Roman" panose="02020603050405020304" pitchFamily="18" charset="0"/>
                        </a:rPr>
                        <a:t>Introduction</a:t>
                      </a:r>
                    </a:p>
                  </a:txBody>
                  <a:tcPr marL="24742" marR="24742" marT="12371" marB="12371" anchor="ctr"/>
                </a:tc>
                <a:extLst>
                  <a:ext uri="{0D108BD9-81ED-4DB2-BD59-A6C34878D82A}">
                    <a16:rowId xmlns:a16="http://schemas.microsoft.com/office/drawing/2014/main" val="3954765726"/>
                  </a:ext>
                </a:extLst>
              </a:tr>
              <a:tr h="372899">
                <a:tc>
                  <a:txBody>
                    <a:bodyPr/>
                    <a:lstStyle/>
                    <a:p>
                      <a:pPr algn="ctr">
                        <a:buNone/>
                      </a:pPr>
                      <a:r>
                        <a:rPr lang="en-IN" sz="1800" dirty="0">
                          <a:latin typeface="Times New Roman" panose="02020603050405020304" pitchFamily="18" charset="0"/>
                          <a:cs typeface="Times New Roman" panose="02020603050405020304" pitchFamily="18" charset="0"/>
                        </a:rPr>
                        <a:t>2</a:t>
                      </a:r>
                    </a:p>
                  </a:txBody>
                  <a:tcPr marL="24742" marR="24742" marT="12371" marB="12371" anchor="ctr"/>
                </a:tc>
                <a:tc>
                  <a:txBody>
                    <a:bodyPr/>
                    <a:lstStyle/>
                    <a:p>
                      <a:pPr algn="ctr">
                        <a:buNone/>
                      </a:pPr>
                      <a:r>
                        <a:rPr lang="en-IN" sz="1800" dirty="0">
                          <a:latin typeface="Times New Roman" panose="02020603050405020304" pitchFamily="18" charset="0"/>
                          <a:cs typeface="Times New Roman" panose="02020603050405020304" pitchFamily="18" charset="0"/>
                        </a:rPr>
                        <a:t>Objectives</a:t>
                      </a:r>
                    </a:p>
                  </a:txBody>
                  <a:tcPr marL="24742" marR="24742" marT="12371" marB="12371" anchor="ctr"/>
                </a:tc>
                <a:extLst>
                  <a:ext uri="{0D108BD9-81ED-4DB2-BD59-A6C34878D82A}">
                    <a16:rowId xmlns:a16="http://schemas.microsoft.com/office/drawing/2014/main" val="2586719439"/>
                  </a:ext>
                </a:extLst>
              </a:tr>
              <a:tr h="372899">
                <a:tc>
                  <a:txBody>
                    <a:bodyPr/>
                    <a:lstStyle/>
                    <a:p>
                      <a:pPr algn="ctr">
                        <a:buNone/>
                      </a:pPr>
                      <a:r>
                        <a:rPr lang="en-IN" sz="1800" dirty="0">
                          <a:latin typeface="Times New Roman" panose="02020603050405020304" pitchFamily="18" charset="0"/>
                          <a:cs typeface="Times New Roman" panose="02020603050405020304" pitchFamily="18" charset="0"/>
                        </a:rPr>
                        <a:t>3</a:t>
                      </a:r>
                    </a:p>
                  </a:txBody>
                  <a:tcPr marL="24742" marR="24742" marT="12371" marB="12371" anchor="ctr"/>
                </a:tc>
                <a:tc>
                  <a:txBody>
                    <a:bodyPr/>
                    <a:lstStyle/>
                    <a:p>
                      <a:pPr algn="ctr">
                        <a:buNone/>
                      </a:pPr>
                      <a:r>
                        <a:rPr lang="en-IN" sz="1800" dirty="0">
                          <a:latin typeface="Times New Roman" panose="02020603050405020304" pitchFamily="18" charset="0"/>
                          <a:cs typeface="Times New Roman" panose="02020603050405020304" pitchFamily="18" charset="0"/>
                        </a:rPr>
                        <a:t>Key Performance Parameters</a:t>
                      </a:r>
                    </a:p>
                  </a:txBody>
                  <a:tcPr marL="24742" marR="24742" marT="12371" marB="12371" anchor="ctr"/>
                </a:tc>
                <a:extLst>
                  <a:ext uri="{0D108BD9-81ED-4DB2-BD59-A6C34878D82A}">
                    <a16:rowId xmlns:a16="http://schemas.microsoft.com/office/drawing/2014/main" val="4231191979"/>
                  </a:ext>
                </a:extLst>
              </a:tr>
              <a:tr h="372899">
                <a:tc>
                  <a:txBody>
                    <a:bodyPr/>
                    <a:lstStyle/>
                    <a:p>
                      <a:pPr algn="ctr">
                        <a:buNone/>
                      </a:pPr>
                      <a:r>
                        <a:rPr lang="en-IN" sz="1800" dirty="0">
                          <a:latin typeface="Times New Roman" panose="02020603050405020304" pitchFamily="18" charset="0"/>
                          <a:cs typeface="Times New Roman" panose="02020603050405020304" pitchFamily="18" charset="0"/>
                        </a:rPr>
                        <a:t>4</a:t>
                      </a:r>
                    </a:p>
                  </a:txBody>
                  <a:tcPr marL="24742" marR="24742" marT="12371" marB="12371" anchor="ctr"/>
                </a:tc>
                <a:tc>
                  <a:txBody>
                    <a:bodyPr/>
                    <a:lstStyle/>
                    <a:p>
                      <a:pPr algn="ctr">
                        <a:buNone/>
                      </a:pPr>
                      <a:r>
                        <a:rPr lang="en-IN" sz="1800" dirty="0">
                          <a:latin typeface="Times New Roman" panose="02020603050405020304" pitchFamily="18" charset="0"/>
                          <a:cs typeface="Times New Roman" panose="02020603050405020304" pitchFamily="18" charset="0"/>
                        </a:rPr>
                        <a:t>Literature Review / Background</a:t>
                      </a:r>
                    </a:p>
                  </a:txBody>
                  <a:tcPr marL="24742" marR="24742" marT="12371" marB="12371" anchor="ctr"/>
                </a:tc>
                <a:extLst>
                  <a:ext uri="{0D108BD9-81ED-4DB2-BD59-A6C34878D82A}">
                    <a16:rowId xmlns:a16="http://schemas.microsoft.com/office/drawing/2014/main" val="1395529243"/>
                  </a:ext>
                </a:extLst>
              </a:tr>
              <a:tr h="372899">
                <a:tc>
                  <a:txBody>
                    <a:bodyPr/>
                    <a:lstStyle/>
                    <a:p>
                      <a:pPr algn="ctr">
                        <a:buNone/>
                      </a:pPr>
                      <a:r>
                        <a:rPr lang="en-IN" sz="1800" dirty="0">
                          <a:latin typeface="Times New Roman" panose="02020603050405020304" pitchFamily="18" charset="0"/>
                          <a:cs typeface="Times New Roman" panose="02020603050405020304" pitchFamily="18" charset="0"/>
                        </a:rPr>
                        <a:t>5</a:t>
                      </a:r>
                    </a:p>
                  </a:txBody>
                  <a:tcPr marL="24742" marR="24742" marT="12371" marB="12371" anchor="ctr"/>
                </a:tc>
                <a:tc>
                  <a:txBody>
                    <a:bodyPr/>
                    <a:lstStyle/>
                    <a:p>
                      <a:pPr algn="ctr">
                        <a:buNone/>
                      </a:pPr>
                      <a:r>
                        <a:rPr lang="en-IN" sz="1800" dirty="0">
                          <a:latin typeface="Times New Roman" panose="02020603050405020304" pitchFamily="18" charset="0"/>
                          <a:cs typeface="Times New Roman" panose="02020603050405020304" pitchFamily="18" charset="0"/>
                        </a:rPr>
                        <a:t>Methodology</a:t>
                      </a:r>
                    </a:p>
                  </a:txBody>
                  <a:tcPr marL="24742" marR="24742" marT="12371" marB="12371" anchor="ctr"/>
                </a:tc>
                <a:extLst>
                  <a:ext uri="{0D108BD9-81ED-4DB2-BD59-A6C34878D82A}">
                    <a16:rowId xmlns:a16="http://schemas.microsoft.com/office/drawing/2014/main" val="82796983"/>
                  </a:ext>
                </a:extLst>
              </a:tr>
              <a:tr h="372899">
                <a:tc>
                  <a:txBody>
                    <a:bodyPr/>
                    <a:lstStyle/>
                    <a:p>
                      <a:pPr algn="ctr">
                        <a:buNone/>
                      </a:pPr>
                      <a:r>
                        <a:rPr lang="en-IN" sz="1800" dirty="0">
                          <a:latin typeface="Times New Roman" panose="02020603050405020304" pitchFamily="18" charset="0"/>
                          <a:cs typeface="Times New Roman" panose="02020603050405020304" pitchFamily="18" charset="0"/>
                        </a:rPr>
                        <a:t>6</a:t>
                      </a:r>
                    </a:p>
                  </a:txBody>
                  <a:tcPr marL="24742" marR="24742" marT="12371" marB="12371" anchor="ctr"/>
                </a:tc>
                <a:tc>
                  <a:txBody>
                    <a:bodyPr/>
                    <a:lstStyle/>
                    <a:p>
                      <a:pPr algn="ctr">
                        <a:buNone/>
                      </a:pPr>
                      <a:r>
                        <a:rPr lang="en-IN" sz="1800" dirty="0">
                          <a:latin typeface="Times New Roman" panose="02020603050405020304" pitchFamily="18" charset="0"/>
                          <a:cs typeface="Times New Roman" panose="02020603050405020304" pitchFamily="18" charset="0"/>
                        </a:rPr>
                        <a:t>System Architecture</a:t>
                      </a:r>
                    </a:p>
                  </a:txBody>
                  <a:tcPr marL="24742" marR="24742" marT="12371" marB="12371" anchor="ctr"/>
                </a:tc>
                <a:extLst>
                  <a:ext uri="{0D108BD9-81ED-4DB2-BD59-A6C34878D82A}">
                    <a16:rowId xmlns:a16="http://schemas.microsoft.com/office/drawing/2014/main" val="773064145"/>
                  </a:ext>
                </a:extLst>
              </a:tr>
              <a:tr h="372899">
                <a:tc>
                  <a:txBody>
                    <a:bodyPr/>
                    <a:lstStyle/>
                    <a:p>
                      <a:pPr algn="ctr">
                        <a:buNone/>
                      </a:pPr>
                      <a:r>
                        <a:rPr lang="en-IN" sz="1800" dirty="0">
                          <a:latin typeface="Times New Roman" panose="02020603050405020304" pitchFamily="18" charset="0"/>
                          <a:cs typeface="Times New Roman" panose="02020603050405020304" pitchFamily="18" charset="0"/>
                        </a:rPr>
                        <a:t>7</a:t>
                      </a:r>
                    </a:p>
                  </a:txBody>
                  <a:tcPr marL="24742" marR="24742" marT="12371" marB="12371" anchor="ctr"/>
                </a:tc>
                <a:tc>
                  <a:txBody>
                    <a:bodyPr/>
                    <a:lstStyle/>
                    <a:p>
                      <a:pPr algn="ctr">
                        <a:buNone/>
                      </a:pPr>
                      <a:r>
                        <a:rPr lang="en-IN" sz="1800" dirty="0">
                          <a:latin typeface="Times New Roman" panose="02020603050405020304" pitchFamily="18" charset="0"/>
                          <a:cs typeface="Times New Roman" panose="02020603050405020304" pitchFamily="18" charset="0"/>
                        </a:rPr>
                        <a:t>Implementation</a:t>
                      </a:r>
                    </a:p>
                  </a:txBody>
                  <a:tcPr marL="24742" marR="24742" marT="12371" marB="12371" anchor="ctr"/>
                </a:tc>
                <a:extLst>
                  <a:ext uri="{0D108BD9-81ED-4DB2-BD59-A6C34878D82A}">
                    <a16:rowId xmlns:a16="http://schemas.microsoft.com/office/drawing/2014/main" val="1369001853"/>
                  </a:ext>
                </a:extLst>
              </a:tr>
              <a:tr h="372899">
                <a:tc>
                  <a:txBody>
                    <a:bodyPr/>
                    <a:lstStyle/>
                    <a:p>
                      <a:pPr algn="ctr">
                        <a:buNone/>
                      </a:pPr>
                      <a:r>
                        <a:rPr lang="en-IN" sz="1800" dirty="0">
                          <a:latin typeface="Times New Roman" panose="02020603050405020304" pitchFamily="18" charset="0"/>
                          <a:cs typeface="Times New Roman" panose="02020603050405020304" pitchFamily="18" charset="0"/>
                        </a:rPr>
                        <a:t>8</a:t>
                      </a:r>
                    </a:p>
                  </a:txBody>
                  <a:tcPr marL="24742" marR="24742" marT="12371" marB="12371" anchor="ctr"/>
                </a:tc>
                <a:tc>
                  <a:txBody>
                    <a:bodyPr/>
                    <a:lstStyle/>
                    <a:p>
                      <a:pPr algn="ctr">
                        <a:buNone/>
                      </a:pPr>
                      <a:r>
                        <a:rPr lang="en-IN" sz="1800" dirty="0">
                          <a:latin typeface="Times New Roman" panose="02020603050405020304" pitchFamily="18" charset="0"/>
                          <a:cs typeface="Times New Roman" panose="02020603050405020304" pitchFamily="18" charset="0"/>
                        </a:rPr>
                        <a:t>Results &amp; Discussion</a:t>
                      </a:r>
                    </a:p>
                  </a:txBody>
                  <a:tcPr marL="24742" marR="24742" marT="12371" marB="12371" anchor="ctr"/>
                </a:tc>
                <a:extLst>
                  <a:ext uri="{0D108BD9-81ED-4DB2-BD59-A6C34878D82A}">
                    <a16:rowId xmlns:a16="http://schemas.microsoft.com/office/drawing/2014/main" val="2247648479"/>
                  </a:ext>
                </a:extLst>
              </a:tr>
              <a:tr h="372899">
                <a:tc>
                  <a:txBody>
                    <a:bodyPr/>
                    <a:lstStyle/>
                    <a:p>
                      <a:pPr algn="ctr">
                        <a:buNone/>
                      </a:pPr>
                      <a:r>
                        <a:rPr lang="en-IN" sz="1800" dirty="0">
                          <a:latin typeface="Times New Roman" panose="02020603050405020304" pitchFamily="18" charset="0"/>
                          <a:cs typeface="Times New Roman" panose="02020603050405020304" pitchFamily="18" charset="0"/>
                        </a:rPr>
                        <a:t>9</a:t>
                      </a:r>
                    </a:p>
                  </a:txBody>
                  <a:tcPr marL="24742" marR="24742" marT="12371" marB="12371" anchor="ctr"/>
                </a:tc>
                <a:tc>
                  <a:txBody>
                    <a:bodyPr/>
                    <a:lstStyle/>
                    <a:p>
                      <a:pPr algn="ctr">
                        <a:buNone/>
                      </a:pPr>
                      <a:r>
                        <a:rPr lang="en-IN" sz="1800" dirty="0">
                          <a:latin typeface="Times New Roman" panose="02020603050405020304" pitchFamily="18" charset="0"/>
                          <a:cs typeface="Times New Roman" panose="02020603050405020304" pitchFamily="18" charset="0"/>
                        </a:rPr>
                        <a:t>Challenges &amp; Limitations</a:t>
                      </a:r>
                    </a:p>
                  </a:txBody>
                  <a:tcPr marL="24742" marR="24742" marT="12371" marB="12371" anchor="ctr"/>
                </a:tc>
                <a:extLst>
                  <a:ext uri="{0D108BD9-81ED-4DB2-BD59-A6C34878D82A}">
                    <a16:rowId xmlns:a16="http://schemas.microsoft.com/office/drawing/2014/main" val="4126189181"/>
                  </a:ext>
                </a:extLst>
              </a:tr>
              <a:tr h="372899">
                <a:tc>
                  <a:txBody>
                    <a:bodyPr/>
                    <a:lstStyle/>
                    <a:p>
                      <a:pPr algn="ctr">
                        <a:buNone/>
                      </a:pPr>
                      <a:r>
                        <a:rPr lang="en-IN" sz="1800" dirty="0">
                          <a:latin typeface="Times New Roman" panose="02020603050405020304" pitchFamily="18" charset="0"/>
                          <a:cs typeface="Times New Roman" panose="02020603050405020304" pitchFamily="18" charset="0"/>
                        </a:rPr>
                        <a:t>10</a:t>
                      </a:r>
                    </a:p>
                  </a:txBody>
                  <a:tcPr marL="24742" marR="24742" marT="12371" marB="12371" anchor="ctr"/>
                </a:tc>
                <a:tc>
                  <a:txBody>
                    <a:bodyPr/>
                    <a:lstStyle/>
                    <a:p>
                      <a:pPr algn="ctr">
                        <a:buNone/>
                      </a:pPr>
                      <a:r>
                        <a:rPr lang="en-IN" sz="1800" dirty="0">
                          <a:latin typeface="Times New Roman" panose="02020603050405020304" pitchFamily="18" charset="0"/>
                          <a:cs typeface="Times New Roman" panose="02020603050405020304" pitchFamily="18" charset="0"/>
                        </a:rPr>
                        <a:t>Future Scope</a:t>
                      </a:r>
                    </a:p>
                  </a:txBody>
                  <a:tcPr marL="24742" marR="24742" marT="12371" marB="12371" anchor="ctr"/>
                </a:tc>
                <a:extLst>
                  <a:ext uri="{0D108BD9-81ED-4DB2-BD59-A6C34878D82A}">
                    <a16:rowId xmlns:a16="http://schemas.microsoft.com/office/drawing/2014/main" val="3127220167"/>
                  </a:ext>
                </a:extLst>
              </a:tr>
              <a:tr h="372899">
                <a:tc>
                  <a:txBody>
                    <a:bodyPr/>
                    <a:lstStyle/>
                    <a:p>
                      <a:pPr algn="ctr">
                        <a:buNone/>
                      </a:pPr>
                      <a:r>
                        <a:rPr lang="en-IN" sz="1800" dirty="0">
                          <a:latin typeface="Times New Roman" panose="02020603050405020304" pitchFamily="18" charset="0"/>
                          <a:cs typeface="Times New Roman" panose="02020603050405020304" pitchFamily="18" charset="0"/>
                        </a:rPr>
                        <a:t>11</a:t>
                      </a:r>
                    </a:p>
                  </a:txBody>
                  <a:tcPr marL="24742" marR="24742" marT="12371" marB="12371" anchor="ctr"/>
                </a:tc>
                <a:tc>
                  <a:txBody>
                    <a:bodyPr/>
                    <a:lstStyle/>
                    <a:p>
                      <a:pPr algn="ctr">
                        <a:buNone/>
                      </a:pPr>
                      <a:r>
                        <a:rPr lang="en-IN" sz="1800" dirty="0">
                          <a:latin typeface="Times New Roman" panose="02020603050405020304" pitchFamily="18" charset="0"/>
                          <a:cs typeface="Times New Roman" panose="02020603050405020304" pitchFamily="18" charset="0"/>
                        </a:rPr>
                        <a:t>Conclusion</a:t>
                      </a:r>
                    </a:p>
                  </a:txBody>
                  <a:tcPr marL="24742" marR="24742" marT="12371" marB="12371" anchor="ctr"/>
                </a:tc>
                <a:extLst>
                  <a:ext uri="{0D108BD9-81ED-4DB2-BD59-A6C34878D82A}">
                    <a16:rowId xmlns:a16="http://schemas.microsoft.com/office/drawing/2014/main" val="1685314035"/>
                  </a:ext>
                </a:extLst>
              </a:tr>
              <a:tr h="372899">
                <a:tc>
                  <a:txBody>
                    <a:bodyPr/>
                    <a:lstStyle/>
                    <a:p>
                      <a:pPr algn="ctr">
                        <a:buNone/>
                      </a:pPr>
                      <a:r>
                        <a:rPr lang="en-IN" sz="1800" dirty="0">
                          <a:latin typeface="Times New Roman" panose="02020603050405020304" pitchFamily="18" charset="0"/>
                          <a:cs typeface="Times New Roman" panose="02020603050405020304" pitchFamily="18" charset="0"/>
                        </a:rPr>
                        <a:t>12</a:t>
                      </a:r>
                    </a:p>
                  </a:txBody>
                  <a:tcPr marL="24742" marR="24742" marT="12371" marB="12371" anchor="ctr"/>
                </a:tc>
                <a:tc>
                  <a:txBody>
                    <a:bodyPr/>
                    <a:lstStyle/>
                    <a:p>
                      <a:pPr algn="ctr">
                        <a:buNone/>
                      </a:pPr>
                      <a:r>
                        <a:rPr lang="en-IN" sz="1800" dirty="0">
                          <a:latin typeface="Times New Roman" panose="02020603050405020304" pitchFamily="18" charset="0"/>
                          <a:cs typeface="Times New Roman" panose="02020603050405020304" pitchFamily="18" charset="0"/>
                        </a:rPr>
                        <a:t>References</a:t>
                      </a:r>
                    </a:p>
                  </a:txBody>
                  <a:tcPr marL="24742" marR="24742" marT="12371" marB="12371" anchor="ctr"/>
                </a:tc>
                <a:extLst>
                  <a:ext uri="{0D108BD9-81ED-4DB2-BD59-A6C34878D82A}">
                    <a16:rowId xmlns:a16="http://schemas.microsoft.com/office/drawing/2014/main" val="845304534"/>
                  </a:ext>
                </a:extLst>
              </a:tr>
            </a:tbl>
          </a:graphicData>
        </a:graphic>
      </p:graphicFrame>
    </p:spTree>
    <p:extLst>
      <p:ext uri="{BB962C8B-B14F-4D97-AF65-F5344CB8AC3E}">
        <p14:creationId xmlns:p14="http://schemas.microsoft.com/office/powerpoint/2010/main" val="10074425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73152" tIns="73152" rIns="73152" bIns="73152" rtlCol="0">
            <a:spAutoFit/>
          </a:bodyPr>
          <a:lstStyle/>
          <a:p>
            <a:pPr marL="2179955" algn="l">
              <a:lnSpc>
                <a:spcPct val="100000"/>
              </a:lnSpc>
              <a:spcBef>
                <a:spcPts val="100"/>
              </a:spcBef>
            </a:pPr>
            <a:r>
              <a:rPr sz="3000" b="1" dirty="0">
                <a:solidFill>
                  <a:srgbClr val="5345D2"/>
                </a:solidFill>
                <a:latin typeface="Times New Roman"/>
              </a:rPr>
              <a:t>Introduction</a:t>
            </a:r>
          </a:p>
        </p:txBody>
      </p:sp>
      <p:pic>
        <p:nvPicPr>
          <p:cNvPr id="4" name="object 4"/>
          <p:cNvPicPr/>
          <p:nvPr/>
        </p:nvPicPr>
        <p:blipFill>
          <a:blip r:embed="rId2" cstate="print"/>
          <a:stretch>
            <a:fillRect/>
          </a:stretch>
        </p:blipFill>
        <p:spPr>
          <a:xfrm>
            <a:off x="357352" y="191626"/>
            <a:ext cx="1135116" cy="1342883"/>
          </a:xfrm>
          <a:prstGeom prst="rect">
            <a:avLst/>
          </a:prstGeom>
        </p:spPr>
      </p:pic>
      <p:pic>
        <p:nvPicPr>
          <p:cNvPr id="5" name="object 5"/>
          <p:cNvPicPr/>
          <p:nvPr/>
        </p:nvPicPr>
        <p:blipFill>
          <a:blip r:embed="rId3" cstate="print"/>
          <a:stretch>
            <a:fillRect/>
          </a:stretch>
        </p:blipFill>
        <p:spPr>
          <a:xfrm>
            <a:off x="10514231" y="191626"/>
            <a:ext cx="1520113" cy="1342883"/>
          </a:xfrm>
          <a:prstGeom prst="rect">
            <a:avLst/>
          </a:prstGeom>
        </p:spPr>
      </p:pic>
      <p:sp>
        <p:nvSpPr>
          <p:cNvPr id="6" name="TextBox 5">
            <a:extLst>
              <a:ext uri="{FF2B5EF4-FFF2-40B4-BE49-F238E27FC236}">
                <a16:creationId xmlns:a16="http://schemas.microsoft.com/office/drawing/2014/main" id="{4F077C22-6C06-E1AA-1B40-00CB4B697A47}"/>
              </a:ext>
            </a:extLst>
          </p:cNvPr>
          <p:cNvSpPr txBox="1"/>
          <p:nvPr/>
        </p:nvSpPr>
        <p:spPr>
          <a:xfrm>
            <a:off x="1219200" y="1676400"/>
            <a:ext cx="9677400" cy="5028556"/>
          </a:xfrm>
          <a:prstGeom prst="rect">
            <a:avLst/>
          </a:prstGeom>
          <a:noFill/>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Introduction</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Cloud-based collaboration enables multiple users to access and edit documents from different locations.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Traditional document sharing can create duplicate files, conflicting edits, and difficulty tracking changes.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collaborative editing allows users to work on the same document simultaneously.</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The proposed system combines real-time editing with cloud-based version control.</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Operational Transformation (OT) / CRDT techniques are used to handle concurrent edits and maintain consistency.</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WebSocket communication provides fast, continuous synchronization between users.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 version-control module maintains complete document history, enabling users to review and retrieve previous versions.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73152" tIns="73152" rIns="73152" bIns="73152" rtlCol="0">
            <a:spAutoFit/>
          </a:bodyPr>
          <a:lstStyle/>
          <a:p>
            <a:pPr marL="2411095" algn="l">
              <a:lnSpc>
                <a:spcPct val="100000"/>
              </a:lnSpc>
              <a:spcBef>
                <a:spcPts val="100"/>
              </a:spcBef>
            </a:pPr>
            <a:r>
              <a:rPr sz="3000" b="1" dirty="0">
                <a:solidFill>
                  <a:srgbClr val="5345D2"/>
                </a:solidFill>
                <a:latin typeface="Times New Roman"/>
              </a:rPr>
              <a:t>Objectives</a:t>
            </a:r>
          </a:p>
        </p:txBody>
      </p:sp>
      <p:sp>
        <p:nvSpPr>
          <p:cNvPr id="3" name="object 3"/>
          <p:cNvSpPr txBox="1"/>
          <p:nvPr/>
        </p:nvSpPr>
        <p:spPr>
          <a:xfrm>
            <a:off x="1066800" y="1752600"/>
            <a:ext cx="10710068" cy="5083956"/>
          </a:xfrm>
          <a:prstGeom prst="rect">
            <a:avLst/>
          </a:prstGeom>
        </p:spPr>
        <p:txBody>
          <a:bodyPr vert="horz" wrap="square" lIns="73152" tIns="73152" rIns="73152" bIns="73152" rtlCol="0">
            <a:spAutoFit/>
          </a:bodyPr>
          <a:lstStyle/>
          <a:p>
            <a:pPr>
              <a:lnSpc>
                <a:spcPct val="150000"/>
              </a:lnSpc>
            </a:pPr>
            <a:r>
              <a:rPr lang="en-IN" b="1" dirty="0">
                <a:latin typeface="Times New Roman" panose="02020603050405020304" pitchFamily="18" charset="0"/>
                <a:cs typeface="Times New Roman" panose="02020603050405020304" pitchFamily="18" charset="0"/>
              </a:rPr>
              <a:t>Objectives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Enable real-time collaboration between multiple users on the same document.</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Minimize synchronization latency during collaborative editing.</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Resolve concurrent editing conflicts accurately using OT/CRDT techniques.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Support multiple concurrent editors without significant performance degradation.</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Maintain complete version history of document changes.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Provide fast version retrieval and restoration of previous document states.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Ensure secure and reliable cloud-based document storage and access.</a:t>
            </a:r>
          </a:p>
          <a:p>
            <a:pPr algn="just">
              <a:lnSpc>
                <a:spcPct val="150000"/>
              </a:lnSpc>
            </a:pPr>
            <a:r>
              <a:rPr lang="en-IN" b="1" dirty="0">
                <a:latin typeface="Times New Roman" panose="02020603050405020304" pitchFamily="18" charset="0"/>
                <a:cs typeface="Times New Roman" panose="02020603050405020304" pitchFamily="18" charset="0"/>
              </a:rPr>
              <a:t>Key Performance Parameters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Sync Latency</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Conflict Resolution Accuracy</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Concurrent Editor Capacity</a:t>
            </a:r>
          </a:p>
        </p:txBody>
      </p:sp>
      <p:pic>
        <p:nvPicPr>
          <p:cNvPr id="4" name="object 4"/>
          <p:cNvPicPr/>
          <p:nvPr/>
        </p:nvPicPr>
        <p:blipFill>
          <a:blip r:embed="rId2" cstate="print"/>
          <a:stretch>
            <a:fillRect/>
          </a:stretch>
        </p:blipFill>
        <p:spPr>
          <a:xfrm>
            <a:off x="357352" y="191626"/>
            <a:ext cx="1135116" cy="1342883"/>
          </a:xfrm>
          <a:prstGeom prst="rect">
            <a:avLst/>
          </a:prstGeom>
        </p:spPr>
      </p:pic>
      <p:pic>
        <p:nvPicPr>
          <p:cNvPr id="5" name="object 5"/>
          <p:cNvPicPr/>
          <p:nvPr/>
        </p:nvPicPr>
        <p:blipFill>
          <a:blip r:embed="rId3" cstate="print"/>
          <a:stretch>
            <a:fillRect/>
          </a:stretch>
        </p:blipFill>
        <p:spPr>
          <a:xfrm>
            <a:off x="10514231" y="191626"/>
            <a:ext cx="1520113" cy="134288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73152" tIns="73152" rIns="73152" bIns="73152" rtlCol="0">
            <a:spAutoFit/>
          </a:bodyPr>
          <a:lstStyle/>
          <a:p>
            <a:pPr marL="12700" algn="l">
              <a:lnSpc>
                <a:spcPct val="100000"/>
              </a:lnSpc>
              <a:spcBef>
                <a:spcPts val="100"/>
              </a:spcBef>
            </a:pPr>
            <a:r>
              <a:rPr sz="3000" b="1" dirty="0">
                <a:solidFill>
                  <a:srgbClr val="5345D2"/>
                </a:solidFill>
                <a:latin typeface="Times New Roman"/>
              </a:rPr>
              <a:t>Literature Review / Background</a:t>
            </a:r>
          </a:p>
        </p:txBody>
      </p:sp>
      <p:pic>
        <p:nvPicPr>
          <p:cNvPr id="4" name="object 4"/>
          <p:cNvPicPr/>
          <p:nvPr/>
        </p:nvPicPr>
        <p:blipFill>
          <a:blip r:embed="rId2" cstate="print"/>
          <a:stretch>
            <a:fillRect/>
          </a:stretch>
        </p:blipFill>
        <p:spPr>
          <a:xfrm>
            <a:off x="357352" y="191626"/>
            <a:ext cx="1135116" cy="1342883"/>
          </a:xfrm>
          <a:prstGeom prst="rect">
            <a:avLst/>
          </a:prstGeom>
        </p:spPr>
      </p:pic>
      <p:pic>
        <p:nvPicPr>
          <p:cNvPr id="5" name="object 5"/>
          <p:cNvPicPr/>
          <p:nvPr/>
        </p:nvPicPr>
        <p:blipFill>
          <a:blip r:embed="rId3" cstate="print"/>
          <a:stretch>
            <a:fillRect/>
          </a:stretch>
        </p:blipFill>
        <p:spPr>
          <a:xfrm>
            <a:off x="10514231" y="191626"/>
            <a:ext cx="1520113" cy="1342883"/>
          </a:xfrm>
          <a:prstGeom prst="rect">
            <a:avLst/>
          </a:prstGeom>
        </p:spPr>
      </p:pic>
      <p:graphicFrame>
        <p:nvGraphicFramePr>
          <p:cNvPr id="3" name="Table 2">
            <a:extLst>
              <a:ext uri="{FF2B5EF4-FFF2-40B4-BE49-F238E27FC236}">
                <a16:creationId xmlns:a16="http://schemas.microsoft.com/office/drawing/2014/main" id="{82FB233D-60CC-9EA6-5E7C-05FAFB9180C1}"/>
              </a:ext>
            </a:extLst>
          </p:cNvPr>
          <p:cNvGraphicFramePr>
            <a:graphicFrameLocks noGrp="1"/>
          </p:cNvGraphicFramePr>
          <p:nvPr>
            <p:extLst>
              <p:ext uri="{D42A27DB-BD31-4B8C-83A1-F6EECF244321}">
                <p14:modId xmlns:p14="http://schemas.microsoft.com/office/powerpoint/2010/main" val="4287064258"/>
              </p:ext>
            </p:extLst>
          </p:nvPr>
        </p:nvGraphicFramePr>
        <p:xfrm>
          <a:off x="838200" y="1676400"/>
          <a:ext cx="10363200" cy="4968564"/>
        </p:xfrm>
        <a:graphic>
          <a:graphicData uri="http://schemas.openxmlformats.org/drawingml/2006/table">
            <a:tbl>
              <a:tblPr firstRow="1" bandRow="1">
                <a:tableStyleId>{5C22544A-7EE6-4342-B048-85BDC9FD1C3A}</a:tableStyleId>
              </a:tblPr>
              <a:tblGrid>
                <a:gridCol w="3454400">
                  <a:extLst>
                    <a:ext uri="{9D8B030D-6E8A-4147-A177-3AD203B41FA5}">
                      <a16:colId xmlns:a16="http://schemas.microsoft.com/office/drawing/2014/main" val="3879075777"/>
                    </a:ext>
                  </a:extLst>
                </a:gridCol>
                <a:gridCol w="3454400">
                  <a:extLst>
                    <a:ext uri="{9D8B030D-6E8A-4147-A177-3AD203B41FA5}">
                      <a16:colId xmlns:a16="http://schemas.microsoft.com/office/drawing/2014/main" val="1193783398"/>
                    </a:ext>
                  </a:extLst>
                </a:gridCol>
                <a:gridCol w="3454400">
                  <a:extLst>
                    <a:ext uri="{9D8B030D-6E8A-4147-A177-3AD203B41FA5}">
                      <a16:colId xmlns:a16="http://schemas.microsoft.com/office/drawing/2014/main" val="981513806"/>
                    </a:ext>
                  </a:extLst>
                </a:gridCol>
              </a:tblGrid>
              <a:tr h="276188">
                <a:tc>
                  <a:txBody>
                    <a:bodyPr/>
                    <a:lstStyle/>
                    <a:p>
                      <a:pPr>
                        <a:buNone/>
                      </a:pPr>
                      <a:r>
                        <a:rPr lang="en-IN" sz="1800" b="1" dirty="0">
                          <a:latin typeface="Times New Roman" panose="02020603050405020304" pitchFamily="18" charset="0"/>
                          <a:cs typeface="Times New Roman" panose="02020603050405020304" pitchFamily="18" charset="0"/>
                        </a:rPr>
                        <a:t>Study / Technology</a:t>
                      </a:r>
                    </a:p>
                  </a:txBody>
                  <a:tcPr marL="16339" marR="16339" marT="8170" marB="817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buNone/>
                      </a:pPr>
                      <a:r>
                        <a:rPr lang="en-IN" sz="1800" b="1" dirty="0">
                          <a:latin typeface="Times New Roman" panose="02020603050405020304" pitchFamily="18" charset="0"/>
                          <a:cs typeface="Times New Roman" panose="02020603050405020304" pitchFamily="18" charset="0"/>
                        </a:rPr>
                        <a:t>Main Contribution</a:t>
                      </a:r>
                    </a:p>
                  </a:txBody>
                  <a:tcPr marL="16339" marR="16339" marT="8170" marB="8170" anchor="ctr">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buNone/>
                      </a:pPr>
                      <a:r>
                        <a:rPr lang="en-IN" sz="1800" b="1" dirty="0">
                          <a:latin typeface="Times New Roman" panose="02020603050405020304" pitchFamily="18" charset="0"/>
                          <a:cs typeface="Times New Roman" panose="02020603050405020304" pitchFamily="18" charset="0"/>
                        </a:rPr>
                        <a:t>Relevance to Our Project</a:t>
                      </a:r>
                    </a:p>
                  </a:txBody>
                  <a:tcPr marL="16339" marR="16339" marT="8170" marB="8170" anchor="ctr">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4077138270"/>
                  </a:ext>
                </a:extLst>
              </a:tr>
              <a:tr h="1058174">
                <a:tc>
                  <a:txBody>
                    <a:bodyPr/>
                    <a:lstStyle/>
                    <a:p>
                      <a:pPr>
                        <a:buNone/>
                      </a:pPr>
                      <a:r>
                        <a:rPr lang="en-US" sz="1800" dirty="0">
                          <a:latin typeface="Times New Roman" panose="02020603050405020304" pitchFamily="18" charset="0"/>
                          <a:cs typeface="Times New Roman" panose="02020603050405020304" pitchFamily="18" charset="0"/>
                        </a:rPr>
                        <a:t>Fasola, O.S. and Abimbola, M.O., 2023</a:t>
                      </a:r>
                      <a:endParaRPr lang="en-IN" sz="1800" dirty="0">
                        <a:latin typeface="Times New Roman" panose="02020603050405020304" pitchFamily="18" charset="0"/>
                        <a:cs typeface="Times New Roman" panose="02020603050405020304" pitchFamily="18" charset="0"/>
                      </a:endParaRPr>
                    </a:p>
                  </a:txBody>
                  <a:tcPr marL="16339" marR="16339" marT="8170" marB="8170" anchor="ct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marL="0" lvl="0" indent="0">
                        <a:buFont typeface="Wingdings" panose="05000000000000000000" pitchFamily="2" charset="2"/>
                        <a:buNone/>
                      </a:pPr>
                      <a:r>
                        <a:rPr lang="en-US" sz="1800" dirty="0">
                          <a:latin typeface="Times New Roman" panose="02020603050405020304" pitchFamily="18" charset="0"/>
                          <a:cs typeface="Times New Roman" panose="02020603050405020304" pitchFamily="18" charset="0"/>
                        </a:rPr>
                        <a:t>Collaborative technology for information sharing, knowledge creation and management in libraries. </a:t>
                      </a:r>
                      <a:endParaRPr lang="en-IN" sz="1800" dirty="0">
                        <a:latin typeface="Times New Roman" panose="02020603050405020304" pitchFamily="18" charset="0"/>
                        <a:cs typeface="Times New Roman" panose="02020603050405020304" pitchFamily="18" charset="0"/>
                      </a:endParaRPr>
                    </a:p>
                  </a:txBody>
                  <a:tcPr marL="16339" marR="16339" marT="8170" marB="8170" anchor="ctr">
                    <a:lnL w="12700" cmpd="sng">
                      <a:noFill/>
                    </a:lnL>
                    <a:lnR w="12700" cmpd="sng">
                      <a:noFill/>
                    </a:lnR>
                    <a:lnT w="38100" cmpd="sng">
                      <a:noFill/>
                    </a:lnT>
                    <a:lnB w="12700" cmpd="sng">
                      <a:noFill/>
                    </a:lnB>
                    <a:lnTlToBr w="12700" cmpd="sng">
                      <a:noFill/>
                      <a:prstDash val="solid"/>
                    </a:lnTlToBr>
                    <a:lnBlToTr w="12700" cmpd="sng">
                      <a:noFill/>
                      <a:prstDash val="solid"/>
                    </a:lnBlToTr>
                  </a:tcPr>
                </a:tc>
                <a:tc>
                  <a:txBody>
                    <a:bodyPr/>
                    <a:lstStyle/>
                    <a:p>
                      <a:pPr>
                        <a:buNone/>
                      </a:pPr>
                      <a:r>
                        <a:rPr lang="en-IN" sz="1800" dirty="0">
                          <a:latin typeface="Times New Roman" panose="02020603050405020304" pitchFamily="18" charset="0"/>
                          <a:cs typeface="Times New Roman" panose="02020603050405020304" pitchFamily="18" charset="0"/>
                        </a:rPr>
                        <a:t>Provides the foundation for collaborative editing</a:t>
                      </a:r>
                    </a:p>
                  </a:txBody>
                  <a:tcPr marL="16339" marR="16339" marT="8170" marB="8170" anchor="ctr">
                    <a:lnL w="12700" cmpd="sng">
                      <a:noFill/>
                    </a:lnL>
                    <a:lnR w="12700" cmpd="sng">
                      <a:noFill/>
                    </a:lnR>
                    <a:lnT w="381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99854585"/>
                  </a:ext>
                </a:extLst>
              </a:tr>
              <a:tr h="797512">
                <a:tc>
                  <a:txBody>
                    <a:bodyPr/>
                    <a:lstStyle/>
                    <a:p>
                      <a:pPr>
                        <a:buNone/>
                      </a:pPr>
                      <a:r>
                        <a:rPr lang="en-US" sz="1800" dirty="0">
                          <a:latin typeface="Times New Roman" panose="02020603050405020304" pitchFamily="18" charset="0"/>
                          <a:cs typeface="Times New Roman" panose="02020603050405020304" pitchFamily="18" charset="0"/>
                        </a:rPr>
                        <a:t>Castelló, M., Kruse, O., Rapp, C. and Sharples, M., 2023</a:t>
                      </a:r>
                      <a:endParaRPr lang="en-IN" sz="1800" dirty="0">
                        <a:latin typeface="Times New Roman" panose="02020603050405020304" pitchFamily="18" charset="0"/>
                        <a:cs typeface="Times New Roman" panose="02020603050405020304" pitchFamily="18" charset="0"/>
                      </a:endParaRP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buNone/>
                      </a:pPr>
                      <a:r>
                        <a:rPr lang="en-US" sz="1800" dirty="0">
                          <a:latin typeface="Times New Roman" panose="02020603050405020304" pitchFamily="18" charset="0"/>
                          <a:cs typeface="Times New Roman" panose="02020603050405020304" pitchFamily="18" charset="0"/>
                        </a:rPr>
                        <a:t>Synchronous and asynchronous collaborative writing. </a:t>
                      </a:r>
                      <a:endParaRPr lang="en-IN" sz="1800" dirty="0">
                        <a:latin typeface="Times New Roman" panose="02020603050405020304" pitchFamily="18" charset="0"/>
                        <a:cs typeface="Times New Roman" panose="02020603050405020304" pitchFamily="18" charset="0"/>
                      </a:endParaRP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buNone/>
                      </a:pPr>
                      <a:r>
                        <a:rPr lang="en-IN" sz="1800" dirty="0">
                          <a:latin typeface="Times New Roman" panose="02020603050405020304" pitchFamily="18" charset="0"/>
                          <a:cs typeface="Times New Roman" panose="02020603050405020304" pitchFamily="18" charset="0"/>
                        </a:rPr>
                        <a:t>Helps understand ordering of concurrent operations</a:t>
                      </a: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633980385"/>
                  </a:ext>
                </a:extLst>
              </a:tr>
              <a:tr h="797512">
                <a:tc>
                  <a:txBody>
                    <a:bodyPr/>
                    <a:lstStyle/>
                    <a:p>
                      <a:pPr>
                        <a:buNone/>
                      </a:pPr>
                      <a:r>
                        <a:rPr lang="en-IN" sz="1800" dirty="0">
                          <a:latin typeface="Times New Roman" panose="02020603050405020304" pitchFamily="18" charset="0"/>
                          <a:cs typeface="Times New Roman" panose="02020603050405020304" pitchFamily="18" charset="0"/>
                        </a:rPr>
                        <a:t>Operational Transformation (OT)</a:t>
                      </a: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buNone/>
                      </a:pPr>
                      <a:r>
                        <a:rPr lang="en-IN" sz="1800" dirty="0">
                          <a:latin typeface="Times New Roman" panose="02020603050405020304" pitchFamily="18" charset="0"/>
                          <a:cs typeface="Times New Roman" panose="02020603050405020304" pitchFamily="18" charset="0"/>
                        </a:rPr>
                        <a:t>Transforms concurrent operations to maintain document consistency</a:t>
                      </a: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buNone/>
                      </a:pPr>
                      <a:r>
                        <a:rPr lang="en-IN" sz="1800" dirty="0">
                          <a:latin typeface="Times New Roman" panose="02020603050405020304" pitchFamily="18" charset="0"/>
                          <a:cs typeface="Times New Roman" panose="02020603050405020304" pitchFamily="18" charset="0"/>
                        </a:rPr>
                        <a:t>Used for conflict resolution</a:t>
                      </a: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81228240"/>
                  </a:ext>
                </a:extLst>
              </a:tr>
              <a:tr h="797512">
                <a:tc>
                  <a:txBody>
                    <a:bodyPr/>
                    <a:lstStyle/>
                    <a:p>
                      <a:pPr>
                        <a:buNone/>
                      </a:pPr>
                      <a:r>
                        <a:rPr lang="en-IN" sz="1800" dirty="0">
                          <a:latin typeface="Times New Roman" panose="02020603050405020304" pitchFamily="18" charset="0"/>
                          <a:cs typeface="Times New Roman" panose="02020603050405020304" pitchFamily="18" charset="0"/>
                        </a:rPr>
                        <a:t>CRDTs</a:t>
                      </a: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buNone/>
                      </a:pPr>
                      <a:r>
                        <a:rPr lang="en-IN" sz="1800" dirty="0">
                          <a:latin typeface="Times New Roman" panose="02020603050405020304" pitchFamily="18" charset="0"/>
                          <a:cs typeface="Times New Roman" panose="02020603050405020304" pitchFamily="18" charset="0"/>
                        </a:rPr>
                        <a:t>Enables distributed data to merge while maintaining eventual convergence</a:t>
                      </a: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buNone/>
                      </a:pPr>
                      <a:r>
                        <a:rPr lang="en-IN" sz="1800" dirty="0">
                          <a:latin typeface="Times New Roman" panose="02020603050405020304" pitchFamily="18" charset="0"/>
                          <a:cs typeface="Times New Roman" panose="02020603050405020304" pitchFamily="18" charset="0"/>
                        </a:rPr>
                        <a:t>Alternative approach for real-time collaboration</a:t>
                      </a: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868083087"/>
                  </a:ext>
                </a:extLst>
              </a:tr>
              <a:tr h="536850">
                <a:tc>
                  <a:txBody>
                    <a:bodyPr/>
                    <a:lstStyle/>
                    <a:p>
                      <a:pPr>
                        <a:buNone/>
                      </a:pPr>
                      <a:r>
                        <a:rPr lang="en-IN" sz="1800" dirty="0">
                          <a:latin typeface="Times New Roman" panose="02020603050405020304" pitchFamily="18" charset="0"/>
                          <a:cs typeface="Times New Roman" panose="02020603050405020304" pitchFamily="18" charset="0"/>
                        </a:rPr>
                        <a:t>WebSocket (RFC 6455)</a:t>
                      </a: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buNone/>
                      </a:pPr>
                      <a:r>
                        <a:rPr lang="en-IN" sz="1800" dirty="0">
                          <a:latin typeface="Times New Roman" panose="02020603050405020304" pitchFamily="18" charset="0"/>
                          <a:cs typeface="Times New Roman" panose="02020603050405020304" pitchFamily="18" charset="0"/>
                        </a:rPr>
                        <a:t>Provides persistent, two-way client-server communication</a:t>
                      </a: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buNone/>
                      </a:pPr>
                      <a:r>
                        <a:rPr lang="en-IN" sz="1800" dirty="0">
                          <a:latin typeface="Times New Roman" panose="02020603050405020304" pitchFamily="18" charset="0"/>
                          <a:cs typeface="Times New Roman" panose="02020603050405020304" pitchFamily="18" charset="0"/>
                        </a:rPr>
                        <a:t>Enables real-time document synchronization</a:t>
                      </a: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41879631"/>
                  </a:ext>
                </a:extLst>
              </a:tr>
              <a:tr h="536850">
                <a:tc>
                  <a:txBody>
                    <a:bodyPr/>
                    <a:lstStyle/>
                    <a:p>
                      <a:pPr>
                        <a:buNone/>
                      </a:pPr>
                      <a:r>
                        <a:rPr lang="en-IN" sz="1800" dirty="0">
                          <a:latin typeface="Times New Roman" panose="02020603050405020304" pitchFamily="18" charset="0"/>
                          <a:cs typeface="Times New Roman" panose="02020603050405020304" pitchFamily="18" charset="0"/>
                        </a:rPr>
                        <a:t>Version Control Systems</a:t>
                      </a: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buNone/>
                      </a:pPr>
                      <a:r>
                        <a:rPr lang="en-IN" sz="1800" dirty="0">
                          <a:latin typeface="Times New Roman" panose="02020603050405020304" pitchFamily="18" charset="0"/>
                          <a:cs typeface="Times New Roman" panose="02020603050405020304" pitchFamily="18" charset="0"/>
                        </a:rPr>
                        <a:t>Maintain revisions and allow historical recovery</a:t>
                      </a: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buNone/>
                      </a:pPr>
                      <a:r>
                        <a:rPr lang="en-IN" sz="1800" dirty="0">
                          <a:latin typeface="Times New Roman" panose="02020603050405020304" pitchFamily="18" charset="0"/>
                          <a:cs typeface="Times New Roman" panose="02020603050405020304" pitchFamily="18" charset="0"/>
                        </a:rPr>
                        <a:t>Supports document version history and restoration</a:t>
                      </a:r>
                    </a:p>
                  </a:txBody>
                  <a:tcPr marL="16339" marR="16339" marT="8170" marB="8170"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2998844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73152" tIns="73152" rIns="73152" bIns="73152" rtlCol="0">
            <a:spAutoFit/>
          </a:bodyPr>
          <a:lstStyle/>
          <a:p>
            <a:pPr marL="2070100" algn="l">
              <a:lnSpc>
                <a:spcPct val="100000"/>
              </a:lnSpc>
              <a:spcBef>
                <a:spcPts val="100"/>
              </a:spcBef>
            </a:pPr>
            <a:r>
              <a:rPr sz="3000" b="1" dirty="0">
                <a:solidFill>
                  <a:srgbClr val="5345D2"/>
                </a:solidFill>
                <a:latin typeface="Times New Roman"/>
              </a:rPr>
              <a:t>Methodology</a:t>
            </a:r>
          </a:p>
        </p:txBody>
      </p:sp>
      <p:sp>
        <p:nvSpPr>
          <p:cNvPr id="3" name="object 3"/>
          <p:cNvSpPr txBox="1"/>
          <p:nvPr/>
        </p:nvSpPr>
        <p:spPr>
          <a:xfrm>
            <a:off x="762000" y="1905000"/>
            <a:ext cx="11072648" cy="4514569"/>
          </a:xfrm>
          <a:prstGeom prst="rect">
            <a:avLst/>
          </a:prstGeom>
        </p:spPr>
        <p:txBody>
          <a:bodyPr vert="horz" wrap="square" lIns="73152" tIns="73152" rIns="73152" bIns="73152" rtlCol="0">
            <a:spAutoFit/>
          </a:bodyPr>
          <a:lstStyle/>
          <a:p>
            <a:pPr algn="l">
              <a:lnSpc>
                <a:spcPct val="100000"/>
              </a:lnSpc>
              <a:spcBef>
                <a:spcPts val="740"/>
              </a:spcBef>
              <a:tabLst>
                <a:tab pos="294005" algn="l"/>
              </a:tabLst>
            </a:pPr>
            <a:endParaRPr lang="en-IN" sz="1700" b="1" dirty="0">
              <a:solidFill>
                <a:srgbClr val="374155"/>
              </a:solidFill>
              <a:latin typeface="Times New Roman"/>
            </a:endParaRP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Requirement Analysis and System Design – Identify the requirements and design the cloud-based architecture, including frontend, backend, database, and real-time communication components.</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User Authentication and Document Management – Implement secure user login, document creation, editing, sharing, and access-control functionalities.</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Real-Time Collaborative Editing – Use Y.js and WebSocket technology to synchronize document changes between multiple users in real time and handle simultaneous edits.</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Cloud Storage and Version Control – Persist document data in the cloud and maintain multiple document versions, allowing users to view, compare, and restore previous versions.</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Testing, Performance Evaluation and Deployment – Test synchronization, security, reliability, and performance under multiple users, then deploy and evaluate the system in a cloud environment.</a:t>
            </a:r>
          </a:p>
        </p:txBody>
      </p:sp>
      <p:pic>
        <p:nvPicPr>
          <p:cNvPr id="4" name="object 4"/>
          <p:cNvPicPr/>
          <p:nvPr/>
        </p:nvPicPr>
        <p:blipFill>
          <a:blip r:embed="rId2" cstate="print"/>
          <a:stretch>
            <a:fillRect/>
          </a:stretch>
        </p:blipFill>
        <p:spPr>
          <a:xfrm>
            <a:off x="357352" y="191626"/>
            <a:ext cx="1135116" cy="1342883"/>
          </a:xfrm>
          <a:prstGeom prst="rect">
            <a:avLst/>
          </a:prstGeom>
        </p:spPr>
      </p:pic>
      <p:pic>
        <p:nvPicPr>
          <p:cNvPr id="5" name="object 5"/>
          <p:cNvPicPr/>
          <p:nvPr/>
        </p:nvPicPr>
        <p:blipFill>
          <a:blip r:embed="rId3" cstate="print"/>
          <a:stretch>
            <a:fillRect/>
          </a:stretch>
        </p:blipFill>
        <p:spPr>
          <a:xfrm>
            <a:off x="10514231" y="191626"/>
            <a:ext cx="1520113" cy="134288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7" name="TextBox 16">
            <a:extLst>
              <a:ext uri="{FF2B5EF4-FFF2-40B4-BE49-F238E27FC236}">
                <a16:creationId xmlns:a16="http://schemas.microsoft.com/office/drawing/2014/main" id="{B7CCE093-4C56-22BB-7C18-FB30D5DFD671}"/>
              </a:ext>
            </a:extLst>
          </p:cNvPr>
          <p:cNvSpPr txBox="1"/>
          <p:nvPr/>
        </p:nvSpPr>
        <p:spPr>
          <a:xfrm>
            <a:off x="4389118" y="381000"/>
            <a:ext cx="3611881" cy="553998"/>
          </a:xfrm>
          <a:prstGeom prst="rect">
            <a:avLst/>
          </a:prstGeom>
          <a:noFill/>
        </p:spPr>
        <p:txBody>
          <a:bodyPr wrap="square">
            <a:spAutoFit/>
          </a:bodyPr>
          <a:lstStyle/>
          <a:p>
            <a:pPr algn="ctr"/>
            <a:r>
              <a:rPr lang="en-IN" sz="3000" dirty="0">
                <a:solidFill>
                  <a:srgbClr val="5345D2"/>
                </a:solidFill>
                <a:latin typeface="Times New Roman"/>
              </a:rPr>
              <a:t>System Architecture</a:t>
            </a:r>
            <a:endParaRPr lang="en-IN" sz="2400" dirty="0"/>
          </a:p>
        </p:txBody>
      </p:sp>
      <p:pic>
        <p:nvPicPr>
          <p:cNvPr id="34" name="Picture 33">
            <a:extLst>
              <a:ext uri="{FF2B5EF4-FFF2-40B4-BE49-F238E27FC236}">
                <a16:creationId xmlns:a16="http://schemas.microsoft.com/office/drawing/2014/main" id="{4C326963-250D-5F0F-939F-6246DB59D2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9700" y="1113761"/>
            <a:ext cx="9372600" cy="4076700"/>
          </a:xfrm>
          <a:prstGeom prst="rect">
            <a:avLst/>
          </a:prstGeom>
        </p:spPr>
      </p:pic>
      <p:sp>
        <p:nvSpPr>
          <p:cNvPr id="35" name="TextBox 34">
            <a:extLst>
              <a:ext uri="{FF2B5EF4-FFF2-40B4-BE49-F238E27FC236}">
                <a16:creationId xmlns:a16="http://schemas.microsoft.com/office/drawing/2014/main" id="{C04A28FC-552D-4D45-BC70-C008AA657DBE}"/>
              </a:ext>
            </a:extLst>
          </p:cNvPr>
          <p:cNvSpPr txBox="1"/>
          <p:nvPr/>
        </p:nvSpPr>
        <p:spPr>
          <a:xfrm>
            <a:off x="4800600" y="5178056"/>
            <a:ext cx="3429000" cy="646331"/>
          </a:xfrm>
          <a:prstGeom prst="rect">
            <a:avLst/>
          </a:prstGeom>
          <a:noFill/>
        </p:spPr>
        <p:txBody>
          <a:bodyPr wrap="square" rtlCol="0">
            <a:spAutoFit/>
          </a:bodyPr>
          <a:lstStyle/>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Fig: Workflow of Application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492468" y="381000"/>
            <a:ext cx="8794532" cy="2086725"/>
          </a:xfrm>
          <a:prstGeom prst="rect">
            <a:avLst/>
          </a:prstGeom>
        </p:spPr>
        <p:txBody>
          <a:bodyPr vert="horz" wrap="square" lIns="73152" tIns="73152" rIns="73152" bIns="73152" rtlCol="0">
            <a:spAutoFit/>
          </a:bodyPr>
          <a:lstStyle/>
          <a:p>
            <a:pPr marL="1767205" algn="l">
              <a:spcBef>
                <a:spcPts val="100"/>
              </a:spcBef>
            </a:pPr>
            <a:r>
              <a:rPr lang="en-IN" sz="3000" b="1" dirty="0">
                <a:solidFill>
                  <a:schemeClr val="accent4"/>
                </a:solidFill>
                <a:latin typeface="Times New Roman"/>
              </a:rPr>
              <a:t>Module 1-</a:t>
            </a:r>
            <a:r>
              <a:rPr lang="en-IN" sz="3200" b="1" dirty="0">
                <a:solidFill>
                  <a:schemeClr val="accent4"/>
                </a:solidFill>
                <a:latin typeface="Times New Roman" panose="02020603050405020304" pitchFamily="18" charset="0"/>
                <a:cs typeface="Times New Roman" panose="02020603050405020304" pitchFamily="18" charset="0"/>
              </a:rPr>
              <a:t>Real-Time Collaborative Rich-Text Editing</a:t>
            </a:r>
            <a:br>
              <a:rPr lang="en-IN" sz="3200" b="1" dirty="0">
                <a:solidFill>
                  <a:schemeClr val="accent4"/>
                </a:solidFill>
                <a:latin typeface="Times New Roman" panose="02020603050405020304" pitchFamily="18" charset="0"/>
                <a:cs typeface="Times New Roman" panose="02020603050405020304" pitchFamily="18" charset="0"/>
              </a:rPr>
            </a:br>
            <a:br>
              <a:rPr lang="en-IN" sz="3200" dirty="0">
                <a:solidFill>
                  <a:schemeClr val="accent4"/>
                </a:solidFill>
                <a:latin typeface="Times New Roman" panose="02020603050405020304" pitchFamily="18" charset="0"/>
                <a:cs typeface="Times New Roman" panose="02020603050405020304" pitchFamily="18" charset="0"/>
              </a:rPr>
            </a:br>
            <a:endParaRPr sz="3000" b="1" dirty="0">
              <a:solidFill>
                <a:schemeClr val="accent4"/>
              </a:solidFill>
              <a:latin typeface="Times New Roman"/>
            </a:endParaRPr>
          </a:p>
        </p:txBody>
      </p:sp>
      <p:pic>
        <p:nvPicPr>
          <p:cNvPr id="4" name="object 4"/>
          <p:cNvPicPr/>
          <p:nvPr/>
        </p:nvPicPr>
        <p:blipFill>
          <a:blip r:embed="rId2" cstate="print"/>
          <a:stretch>
            <a:fillRect/>
          </a:stretch>
        </p:blipFill>
        <p:spPr>
          <a:xfrm>
            <a:off x="357352" y="191626"/>
            <a:ext cx="1135116" cy="1342883"/>
          </a:xfrm>
          <a:prstGeom prst="rect">
            <a:avLst/>
          </a:prstGeom>
        </p:spPr>
      </p:pic>
      <p:pic>
        <p:nvPicPr>
          <p:cNvPr id="5" name="object 5"/>
          <p:cNvPicPr/>
          <p:nvPr/>
        </p:nvPicPr>
        <p:blipFill>
          <a:blip r:embed="rId3" cstate="print"/>
          <a:stretch>
            <a:fillRect/>
          </a:stretch>
        </p:blipFill>
        <p:spPr>
          <a:xfrm>
            <a:off x="10514231" y="191626"/>
            <a:ext cx="1520113" cy="1342883"/>
          </a:xfrm>
          <a:prstGeom prst="rect">
            <a:avLst/>
          </a:prstGeom>
        </p:spPr>
      </p:pic>
      <p:sp>
        <p:nvSpPr>
          <p:cNvPr id="11" name="TextBox 10">
            <a:extLst>
              <a:ext uri="{FF2B5EF4-FFF2-40B4-BE49-F238E27FC236}">
                <a16:creationId xmlns:a16="http://schemas.microsoft.com/office/drawing/2014/main" id="{F97168FC-5E6E-EFA0-2F0F-3239720190F3}"/>
              </a:ext>
            </a:extLst>
          </p:cNvPr>
          <p:cNvSpPr txBox="1"/>
          <p:nvPr/>
        </p:nvSpPr>
        <p:spPr>
          <a:xfrm>
            <a:off x="533400" y="1534509"/>
            <a:ext cx="6858000" cy="5444054"/>
          </a:xfrm>
          <a:prstGeom prst="rect">
            <a:avLst/>
          </a:prstGeom>
          <a:noFill/>
        </p:spPr>
        <p:txBody>
          <a:bodyPr wrap="square">
            <a:spAutoFit/>
          </a:bodyPr>
          <a:lstStyle/>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Rich-Text Editing with Tiptap – Provides a powerful editor where users can create and format documents using headings, bold, italic, lists, links, tables, and other rich-text features.</a:t>
            </a:r>
          </a:p>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Real-Time Synchronization with Y.js – Y.js uses CRDT technology to synchronize document changes automatically, allowing multiple users to edit the same document without overwriting each other’s work.</a:t>
            </a:r>
          </a:p>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Fast Communication using WebSockets – WebSockets maintain a continuous connection between users and the server, enabling edits to be transmitted and reflected instantly across all connected users.</a:t>
            </a:r>
          </a:p>
          <a:p>
            <a:pPr marL="342900" lvl="0" indent="-342900">
              <a:lnSpc>
                <a:spcPct val="150000"/>
              </a:lnSpc>
              <a:buFont typeface="+mj-lt"/>
              <a:buAutoNum type="arabicPeriod"/>
            </a:pPr>
            <a:r>
              <a:rPr lang="en-IN" dirty="0">
                <a:latin typeface="Times New Roman" panose="02020603050405020304" pitchFamily="18" charset="0"/>
                <a:cs typeface="Times New Roman" panose="02020603050405020304" pitchFamily="18" charset="0"/>
              </a:rPr>
              <a:t>Collaborator Awareness – The system shows who is currently editing the document, including their cursor and presence, making teamwork more transparent and easier to coordinate.</a:t>
            </a:r>
          </a:p>
        </p:txBody>
      </p:sp>
      <p:pic>
        <p:nvPicPr>
          <p:cNvPr id="16" name="Picture 15">
            <a:extLst>
              <a:ext uri="{FF2B5EF4-FFF2-40B4-BE49-F238E27FC236}">
                <a16:creationId xmlns:a16="http://schemas.microsoft.com/office/drawing/2014/main" id="{8E4D900C-6631-60DD-B275-F315F2764848}"/>
              </a:ext>
            </a:extLst>
          </p:cNvPr>
          <p:cNvPicPr>
            <a:picLocks noChangeAspect="1"/>
          </p:cNvPicPr>
          <p:nvPr/>
        </p:nvPicPr>
        <p:blipFill>
          <a:blip r:embed="rId4"/>
          <a:stretch>
            <a:fillRect/>
          </a:stretch>
        </p:blipFill>
        <p:spPr>
          <a:xfrm>
            <a:off x="7391400" y="4155131"/>
            <a:ext cx="4642943" cy="2276099"/>
          </a:xfrm>
          <a:prstGeom prst="rect">
            <a:avLst/>
          </a:prstGeom>
        </p:spPr>
      </p:pic>
      <p:pic>
        <p:nvPicPr>
          <p:cNvPr id="18" name="Picture 17">
            <a:extLst>
              <a:ext uri="{FF2B5EF4-FFF2-40B4-BE49-F238E27FC236}">
                <a16:creationId xmlns:a16="http://schemas.microsoft.com/office/drawing/2014/main" id="{20E47B38-E095-4449-6421-5B5124C44446}"/>
              </a:ext>
            </a:extLst>
          </p:cNvPr>
          <p:cNvPicPr>
            <a:picLocks noChangeAspect="1"/>
          </p:cNvPicPr>
          <p:nvPr/>
        </p:nvPicPr>
        <p:blipFill>
          <a:blip r:embed="rId5"/>
          <a:stretch>
            <a:fillRect/>
          </a:stretch>
        </p:blipFill>
        <p:spPr>
          <a:xfrm>
            <a:off x="7391400" y="1534509"/>
            <a:ext cx="4642943" cy="2276099"/>
          </a:xfrm>
          <a:prstGeom prst="rect">
            <a:avLst/>
          </a:prstGeom>
        </p:spPr>
      </p:pic>
      <p:sp>
        <p:nvSpPr>
          <p:cNvPr id="19" name="TextBox 18">
            <a:extLst>
              <a:ext uri="{FF2B5EF4-FFF2-40B4-BE49-F238E27FC236}">
                <a16:creationId xmlns:a16="http://schemas.microsoft.com/office/drawing/2014/main" id="{D101FC1B-158D-3A9F-41EC-C84D4174D9EE}"/>
              </a:ext>
            </a:extLst>
          </p:cNvPr>
          <p:cNvSpPr txBox="1"/>
          <p:nvPr/>
        </p:nvSpPr>
        <p:spPr>
          <a:xfrm>
            <a:off x="8686800" y="3785799"/>
            <a:ext cx="2208629"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Fig:2 Text Editing</a:t>
            </a:r>
          </a:p>
        </p:txBody>
      </p:sp>
      <p:sp>
        <p:nvSpPr>
          <p:cNvPr id="20" name="TextBox 19">
            <a:extLst>
              <a:ext uri="{FF2B5EF4-FFF2-40B4-BE49-F238E27FC236}">
                <a16:creationId xmlns:a16="http://schemas.microsoft.com/office/drawing/2014/main" id="{50943DA0-D8B1-D0E9-069E-C0790628056B}"/>
              </a:ext>
            </a:extLst>
          </p:cNvPr>
          <p:cNvSpPr txBox="1"/>
          <p:nvPr/>
        </p:nvSpPr>
        <p:spPr>
          <a:xfrm>
            <a:off x="8001000" y="6477700"/>
            <a:ext cx="4033343" cy="369332"/>
          </a:xfrm>
          <a:prstGeom prst="rect">
            <a:avLst/>
          </a:prstGeom>
          <a:noFill/>
        </p:spPr>
        <p:txBody>
          <a:bodyPr wrap="square" rtlCol="0">
            <a:spAutoFit/>
          </a:bodyPr>
          <a:lstStyle/>
          <a:p>
            <a:pPr algn="ctr"/>
            <a:r>
              <a:rPr lang="en-IN" dirty="0">
                <a:latin typeface="Times New Roman" panose="02020603050405020304" pitchFamily="18" charset="0"/>
                <a:cs typeface="Times New Roman" panose="02020603050405020304" pitchFamily="18" charset="0"/>
              </a:rPr>
              <a:t>Fig:3 Real Time Collaborative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19E8761-F929-4495-ADF4-6B94EFFB551E}"/>
            </a:ext>
          </a:extLst>
        </p:cNvPr>
        <p:cNvGrpSpPr/>
        <p:nvPr/>
      </p:nvGrpSpPr>
      <p:grpSpPr>
        <a:xfrm>
          <a:off x="0" y="0"/>
          <a:ext cx="0" cy="0"/>
          <a:chOff x="0" y="0"/>
          <a:chExt cx="0" cy="0"/>
        </a:xfrm>
      </p:grpSpPr>
      <p:sp>
        <p:nvSpPr>
          <p:cNvPr id="2" name="object 2" descr="$PPTXTitle">
            <a:extLst>
              <a:ext uri="{FF2B5EF4-FFF2-40B4-BE49-F238E27FC236}">
                <a16:creationId xmlns:a16="http://schemas.microsoft.com/office/drawing/2014/main" id="{BE245122-0CE7-7364-2D84-0399A02B291B}"/>
              </a:ext>
            </a:extLst>
          </p:cNvPr>
          <p:cNvSpPr txBox="1">
            <a:spLocks noGrp="1"/>
          </p:cNvSpPr>
          <p:nvPr>
            <p:ph type="title"/>
          </p:nvPr>
        </p:nvSpPr>
        <p:spPr>
          <a:xfrm>
            <a:off x="1492468" y="381000"/>
            <a:ext cx="8794532" cy="1132618"/>
          </a:xfrm>
          <a:prstGeom prst="rect">
            <a:avLst/>
          </a:prstGeom>
        </p:spPr>
        <p:txBody>
          <a:bodyPr vert="horz" wrap="square" lIns="73152" tIns="73152" rIns="73152" bIns="73152" rtlCol="0">
            <a:spAutoFit/>
          </a:bodyPr>
          <a:lstStyle/>
          <a:p>
            <a:pPr marL="1767205" algn="l">
              <a:spcBef>
                <a:spcPts val="100"/>
              </a:spcBef>
            </a:pPr>
            <a:r>
              <a:rPr lang="en-IN" sz="3000" b="1" dirty="0">
                <a:solidFill>
                  <a:schemeClr val="accent4"/>
                </a:solidFill>
                <a:latin typeface="Times New Roman" panose="02020603050405020304" pitchFamily="18" charset="0"/>
                <a:cs typeface="Times New Roman" panose="02020603050405020304" pitchFamily="18" charset="0"/>
              </a:rPr>
              <a:t>Module-2- </a:t>
            </a:r>
            <a:r>
              <a:rPr lang="en-IN" sz="3200" b="1" dirty="0">
                <a:solidFill>
                  <a:schemeClr val="accent4"/>
                </a:solidFill>
                <a:latin typeface="Times New Roman" panose="02020603050405020304" pitchFamily="18" charset="0"/>
                <a:cs typeface="Times New Roman" panose="02020603050405020304" pitchFamily="18" charset="0"/>
              </a:rPr>
              <a:t>Version Control and Document History</a:t>
            </a:r>
            <a:endParaRPr sz="3000" b="1" dirty="0">
              <a:solidFill>
                <a:schemeClr val="accent4"/>
              </a:solidFill>
              <a:latin typeface="Times New Roman" panose="02020603050405020304" pitchFamily="18" charset="0"/>
              <a:cs typeface="Times New Roman" panose="02020603050405020304" pitchFamily="18" charset="0"/>
            </a:endParaRPr>
          </a:p>
        </p:txBody>
      </p:sp>
      <p:pic>
        <p:nvPicPr>
          <p:cNvPr id="4" name="object 4">
            <a:extLst>
              <a:ext uri="{FF2B5EF4-FFF2-40B4-BE49-F238E27FC236}">
                <a16:creationId xmlns:a16="http://schemas.microsoft.com/office/drawing/2014/main" id="{95B6FA59-1165-C341-43C9-352718B46E3E}"/>
              </a:ext>
            </a:extLst>
          </p:cNvPr>
          <p:cNvPicPr/>
          <p:nvPr/>
        </p:nvPicPr>
        <p:blipFill>
          <a:blip r:embed="rId2" cstate="print"/>
          <a:stretch>
            <a:fillRect/>
          </a:stretch>
        </p:blipFill>
        <p:spPr>
          <a:xfrm>
            <a:off x="270642" y="163273"/>
            <a:ext cx="1135116" cy="1342883"/>
          </a:xfrm>
          <a:prstGeom prst="rect">
            <a:avLst/>
          </a:prstGeom>
        </p:spPr>
      </p:pic>
      <p:pic>
        <p:nvPicPr>
          <p:cNvPr id="5" name="object 5">
            <a:extLst>
              <a:ext uri="{FF2B5EF4-FFF2-40B4-BE49-F238E27FC236}">
                <a16:creationId xmlns:a16="http://schemas.microsoft.com/office/drawing/2014/main" id="{51CAB3F0-CFA7-C0E8-EB63-4E2D32C1DF1C}"/>
              </a:ext>
            </a:extLst>
          </p:cNvPr>
          <p:cNvPicPr/>
          <p:nvPr/>
        </p:nvPicPr>
        <p:blipFill>
          <a:blip r:embed="rId3" cstate="print"/>
          <a:stretch>
            <a:fillRect/>
          </a:stretch>
        </p:blipFill>
        <p:spPr>
          <a:xfrm>
            <a:off x="10514231" y="191626"/>
            <a:ext cx="1520113" cy="1342883"/>
          </a:xfrm>
          <a:prstGeom prst="rect">
            <a:avLst/>
          </a:prstGeom>
        </p:spPr>
      </p:pic>
      <p:sp>
        <p:nvSpPr>
          <p:cNvPr id="11" name="TextBox 10">
            <a:extLst>
              <a:ext uri="{FF2B5EF4-FFF2-40B4-BE49-F238E27FC236}">
                <a16:creationId xmlns:a16="http://schemas.microsoft.com/office/drawing/2014/main" id="{52004EB6-32BF-5ED3-AF2A-A9634B8E154F}"/>
              </a:ext>
            </a:extLst>
          </p:cNvPr>
          <p:cNvSpPr txBox="1"/>
          <p:nvPr/>
        </p:nvSpPr>
        <p:spPr>
          <a:xfrm>
            <a:off x="685800" y="1828800"/>
            <a:ext cx="7696200" cy="5028556"/>
          </a:xfrm>
          <a:prstGeom prst="rect">
            <a:avLst/>
          </a:prstGeom>
          <a:noFill/>
        </p:spPr>
        <p:txBody>
          <a:bodyPr wrap="square">
            <a:spAutoFit/>
          </a:bodyPr>
          <a:lstStyle/>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Version Snapshots – The system automatically saves snapshots of the document at important points, allowing every major change to be preserved separately.</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History Timeline – A chronological timeline displays all saved versions with details such as version number, date, time, and author, making it easy to track document changes.</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Version Preview – Users can preview any previous version without changing the current document, helping them review and compare earlier content safely.</a:t>
            </a:r>
          </a:p>
          <a:p>
            <a:pPr marL="285750" lvl="0" indent="-28575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Non-Destructive Restore using MongoDB – Previous versions are stored securely in MongoDB. When a user restores a version, it creates a new current version instead of deleting the existing history, ensuring complete version traceability.</a:t>
            </a:r>
          </a:p>
        </p:txBody>
      </p:sp>
      <p:pic>
        <p:nvPicPr>
          <p:cNvPr id="6" name="Picture 5">
            <a:extLst>
              <a:ext uri="{FF2B5EF4-FFF2-40B4-BE49-F238E27FC236}">
                <a16:creationId xmlns:a16="http://schemas.microsoft.com/office/drawing/2014/main" id="{6CD46B7C-BACE-D550-AFDC-2CA372608D91}"/>
              </a:ext>
            </a:extLst>
          </p:cNvPr>
          <p:cNvPicPr>
            <a:picLocks noChangeAspect="1"/>
          </p:cNvPicPr>
          <p:nvPr/>
        </p:nvPicPr>
        <p:blipFill>
          <a:blip r:embed="rId4"/>
          <a:stretch>
            <a:fillRect/>
          </a:stretch>
        </p:blipFill>
        <p:spPr>
          <a:xfrm>
            <a:off x="8458200" y="1884934"/>
            <a:ext cx="3733800" cy="2590800"/>
          </a:xfrm>
          <a:prstGeom prst="rect">
            <a:avLst/>
          </a:prstGeom>
        </p:spPr>
      </p:pic>
      <p:sp>
        <p:nvSpPr>
          <p:cNvPr id="7" name="TextBox 6">
            <a:extLst>
              <a:ext uri="{FF2B5EF4-FFF2-40B4-BE49-F238E27FC236}">
                <a16:creationId xmlns:a16="http://schemas.microsoft.com/office/drawing/2014/main" id="{15182217-6164-7D79-F38B-40E88B4E3005}"/>
              </a:ext>
            </a:extLst>
          </p:cNvPr>
          <p:cNvSpPr txBox="1"/>
          <p:nvPr/>
        </p:nvSpPr>
        <p:spPr>
          <a:xfrm>
            <a:off x="9448800" y="4419600"/>
            <a:ext cx="1708492"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4: History</a:t>
            </a:r>
          </a:p>
        </p:txBody>
      </p:sp>
    </p:spTree>
    <p:extLst>
      <p:ext uri="{BB962C8B-B14F-4D97-AF65-F5344CB8AC3E}">
        <p14:creationId xmlns:p14="http://schemas.microsoft.com/office/powerpoint/2010/main" val="3771798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496893" y="475805"/>
            <a:ext cx="7198212" cy="695960"/>
          </a:xfrm>
        </p:spPr>
        <p:txBody>
          <a:bodyPr vert="horz" wrap="square" lIns="73152" tIns="73152" rIns="73152" bIns="73152" rtlCol="0">
            <a:spAutoFit/>
          </a:bodyPr>
          <a:lstStyle/>
          <a:p>
            <a:r>
              <a:rPr lang="en-IN" dirty="0"/>
              <a:t>Results &amp; Discussion</a:t>
            </a:r>
          </a:p>
        </p:txBody>
      </p:sp>
      <p:pic>
        <p:nvPicPr>
          <p:cNvPr id="4" name="object 4"/>
          <p:cNvPicPr/>
          <p:nvPr/>
        </p:nvPicPr>
        <p:blipFill>
          <a:blip r:embed="rId2" cstate="print"/>
          <a:stretch>
            <a:fillRect/>
          </a:stretch>
        </p:blipFill>
        <p:spPr>
          <a:xfrm>
            <a:off x="357352" y="191626"/>
            <a:ext cx="1135116" cy="1342883"/>
          </a:xfrm>
          <a:prstGeom prst="rect">
            <a:avLst/>
          </a:prstGeom>
        </p:spPr>
      </p:pic>
      <p:pic>
        <p:nvPicPr>
          <p:cNvPr id="5" name="object 5"/>
          <p:cNvPicPr/>
          <p:nvPr/>
        </p:nvPicPr>
        <p:blipFill>
          <a:blip r:embed="rId3" cstate="print"/>
          <a:stretch>
            <a:fillRect/>
          </a:stretch>
        </p:blipFill>
        <p:spPr>
          <a:xfrm>
            <a:off x="10514231" y="191626"/>
            <a:ext cx="1520113" cy="1342883"/>
          </a:xfrm>
          <a:prstGeom prst="rect">
            <a:avLst/>
          </a:prstGeom>
        </p:spPr>
      </p:pic>
      <p:pic>
        <p:nvPicPr>
          <p:cNvPr id="10" name="Picture 9" descr="8f620af0-5ffd-4235-849e-aee1b7d4c93f.png"/>
          <p:cNvPicPr>
            <a:picLocks noChangeAspect="1"/>
          </p:cNvPicPr>
          <p:nvPr/>
        </p:nvPicPr>
        <p:blipFill>
          <a:blip r:embed="rId4"/>
          <a:stretch>
            <a:fillRect/>
          </a:stretch>
        </p:blipFill>
        <p:spPr>
          <a:xfrm>
            <a:off x="762000" y="1752600"/>
            <a:ext cx="3836503" cy="4536067"/>
          </a:xfrm>
          <a:prstGeom prst="rect">
            <a:avLst/>
          </a:prstGeom>
        </p:spPr>
      </p:pic>
      <p:sp>
        <p:nvSpPr>
          <p:cNvPr id="11" name="TextBox 10"/>
          <p:cNvSpPr txBox="1"/>
          <p:nvPr/>
        </p:nvSpPr>
        <p:spPr>
          <a:xfrm>
            <a:off x="5486400" y="2209800"/>
            <a:ext cx="5486400" cy="3471720"/>
          </a:xfrm>
          <a:prstGeom prst="rect">
            <a:avLst/>
          </a:prstGeom>
          <a:noFill/>
        </p:spPr>
        <p:txBody>
          <a:bodyPr wrap="square" lIns="73152" tIns="73152" rIns="73152" bIns="73152">
            <a:spAutoFit/>
          </a:bodyPr>
          <a:lstStyle/>
          <a:p>
            <a:pPr algn="l"/>
            <a:r>
              <a:rPr b="1" dirty="0">
                <a:solidFill>
                  <a:srgbClr val="374155"/>
                </a:solidFill>
                <a:latin typeface="Times New Roman"/>
              </a:rPr>
              <a:t>Observed benchmark run</a:t>
            </a:r>
            <a:endParaRPr lang="en-IN" b="1" dirty="0">
              <a:solidFill>
                <a:srgbClr val="374155"/>
              </a:solidFill>
              <a:latin typeface="Times New Roman"/>
            </a:endParaRPr>
          </a:p>
          <a:p>
            <a:pPr marL="285750" indent="-285750" algn="just">
              <a:buFont typeface="Arial" panose="020B0604020202020204" pitchFamily="34" charset="0"/>
              <a:buChar char="•"/>
            </a:pPr>
            <a:r>
              <a:rPr b="0" dirty="0">
                <a:solidFill>
                  <a:srgbClr val="374155"/>
                </a:solidFill>
                <a:latin typeface="Times New Roman"/>
              </a:rPr>
              <a:t>Low WebSocket round-trip time supports responsive collaboration.
100% convergence indicates the controlled Y.js concurrent-edit test reached a consistent state.
Version retrieval was measured through the real API/database path.
The current validated capacity is 5–20 concurrent users; larger-scale deployment should be load-tested separately.
Note: values are measurements from the demonstrated benchmark run, not fixed guarantees.</a:t>
            </a:r>
          </a:p>
        </p:txBody>
      </p:sp>
      <p:sp>
        <p:nvSpPr>
          <p:cNvPr id="7" name="TextBox 6">
            <a:extLst>
              <a:ext uri="{FF2B5EF4-FFF2-40B4-BE49-F238E27FC236}">
                <a16:creationId xmlns:a16="http://schemas.microsoft.com/office/drawing/2014/main" id="{11C10B3A-B7DD-1F63-2EFF-41DB434D2607}"/>
              </a:ext>
            </a:extLst>
          </p:cNvPr>
          <p:cNvSpPr txBox="1"/>
          <p:nvPr/>
        </p:nvSpPr>
        <p:spPr>
          <a:xfrm>
            <a:off x="1143000" y="6474491"/>
            <a:ext cx="3597059" cy="369332"/>
          </a:xfrm>
          <a:prstGeom prst="rect">
            <a:avLst/>
          </a:prstGeom>
          <a:noFill/>
        </p:spPr>
        <p:txBody>
          <a:bodyPr wrap="square" rtlCol="0">
            <a:spAutoFit/>
          </a:bodyPr>
          <a:lstStyle/>
          <a:p>
            <a:r>
              <a:rPr lang="en-IN" dirty="0">
                <a:latin typeface="Times New Roman" panose="02020603050405020304" pitchFamily="18" charset="0"/>
                <a:cs typeface="Times New Roman" panose="02020603050405020304" pitchFamily="18" charset="0"/>
              </a:rPr>
              <a:t>Fig 5:Performance and Metrics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73152" tIns="73152" rIns="73152" bIns="73152" rtlCol="0">
            <a:spAutoFit/>
          </a:bodyPr>
          <a:lstStyle/>
          <a:p>
            <a:pPr marL="801370" algn="l">
              <a:lnSpc>
                <a:spcPct val="100000"/>
              </a:lnSpc>
              <a:spcBef>
                <a:spcPts val="100"/>
              </a:spcBef>
            </a:pPr>
            <a:r>
              <a:rPr sz="3000" b="1" dirty="0">
                <a:solidFill>
                  <a:srgbClr val="5345D2"/>
                </a:solidFill>
                <a:latin typeface="Times New Roman"/>
              </a:rPr>
              <a:t>Challenges &amp; Limitations</a:t>
            </a:r>
          </a:p>
        </p:txBody>
      </p:sp>
      <p:sp>
        <p:nvSpPr>
          <p:cNvPr id="3" name="object 3"/>
          <p:cNvSpPr txBox="1"/>
          <p:nvPr/>
        </p:nvSpPr>
        <p:spPr>
          <a:xfrm>
            <a:off x="1066800" y="2133599"/>
            <a:ext cx="9067800" cy="3089564"/>
          </a:xfrm>
          <a:prstGeom prst="rect">
            <a:avLst/>
          </a:prstGeom>
        </p:spPr>
        <p:txBody>
          <a:bodyPr vert="horz" wrap="square" lIns="73152" tIns="73152" rIns="73152" bIns="73152" rtlCol="0">
            <a:spAutoFit/>
          </a:bodyPr>
          <a:lstStyle/>
          <a:p>
            <a:pPr marL="294005" indent="-281305" algn="just">
              <a:lnSpc>
                <a:spcPct val="100000"/>
              </a:lnSpc>
              <a:spcBef>
                <a:spcPts val="740"/>
              </a:spcBef>
              <a:buFont typeface="Arial MT"/>
              <a:buChar char="•"/>
              <a:tabLst>
                <a:tab pos="294005" algn="l"/>
              </a:tabLst>
            </a:pPr>
            <a:r>
              <a:rPr sz="1800" b="0" dirty="0">
                <a:solidFill>
                  <a:srgbClr val="374155"/>
                </a:solidFill>
                <a:latin typeface="Times New Roman"/>
              </a:rPr>
              <a:t>Correct Y.js provider/awareness lifecycle: improper initialization can crash the editor.
 Reliable concurrent synchronization requires careful WebSocket and CRDT lifecycle management.
Persistent content and immutable versions must remain separate from transient CRDT state.
Document privacy requires backend authorization, not only frontend filtering.
Current performance results are local/development measurements; production cloud scaling needs further load testing.
MongoDB Atlas/cloud deployment and multi-instance WebSocket scaling require additional production configuration.</a:t>
            </a:r>
            <a:endParaRPr sz="3200" dirty="0">
              <a:latin typeface="Calibri"/>
              <a:cs typeface="Calibri"/>
            </a:endParaRPr>
          </a:p>
        </p:txBody>
      </p:sp>
      <p:pic>
        <p:nvPicPr>
          <p:cNvPr id="4" name="object 4"/>
          <p:cNvPicPr/>
          <p:nvPr/>
        </p:nvPicPr>
        <p:blipFill>
          <a:blip r:embed="rId2" cstate="print"/>
          <a:stretch>
            <a:fillRect/>
          </a:stretch>
        </p:blipFill>
        <p:spPr>
          <a:xfrm>
            <a:off x="357352" y="191626"/>
            <a:ext cx="1135116" cy="1342883"/>
          </a:xfrm>
          <a:prstGeom prst="rect">
            <a:avLst/>
          </a:prstGeom>
        </p:spPr>
      </p:pic>
      <p:pic>
        <p:nvPicPr>
          <p:cNvPr id="5" name="object 5"/>
          <p:cNvPicPr/>
          <p:nvPr/>
        </p:nvPicPr>
        <p:blipFill>
          <a:blip r:embed="rId3" cstate="print"/>
          <a:stretch>
            <a:fillRect/>
          </a:stretch>
        </p:blipFill>
        <p:spPr>
          <a:xfrm>
            <a:off x="10514231" y="191626"/>
            <a:ext cx="1520113" cy="134288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73152" tIns="73152" rIns="73152" bIns="73152" rtlCol="0">
            <a:spAutoFit/>
          </a:bodyPr>
          <a:lstStyle/>
          <a:p>
            <a:pPr marL="2104390" algn="l">
              <a:lnSpc>
                <a:spcPct val="100000"/>
              </a:lnSpc>
              <a:spcBef>
                <a:spcPts val="100"/>
              </a:spcBef>
            </a:pPr>
            <a:r>
              <a:rPr sz="3000" b="1" dirty="0">
                <a:solidFill>
                  <a:srgbClr val="5345D2"/>
                </a:solidFill>
                <a:latin typeface="Times New Roman"/>
              </a:rPr>
              <a:t>Future Scope</a:t>
            </a:r>
          </a:p>
        </p:txBody>
      </p:sp>
      <p:sp>
        <p:nvSpPr>
          <p:cNvPr id="3" name="object 3"/>
          <p:cNvSpPr txBox="1"/>
          <p:nvPr/>
        </p:nvSpPr>
        <p:spPr>
          <a:xfrm>
            <a:off x="1752600" y="1752599"/>
            <a:ext cx="7942506" cy="3643562"/>
          </a:xfrm>
          <a:prstGeom prst="rect">
            <a:avLst/>
          </a:prstGeom>
        </p:spPr>
        <p:txBody>
          <a:bodyPr vert="horz" wrap="square" lIns="73152" tIns="73152" rIns="73152" bIns="73152" rtlCol="0">
            <a:spAutoFit/>
          </a:bodyPr>
          <a:lstStyle/>
          <a:p>
            <a:pPr marL="294005" indent="-281305" algn="just">
              <a:lnSpc>
                <a:spcPct val="100000"/>
              </a:lnSpc>
              <a:spcBef>
                <a:spcPts val="740"/>
              </a:spcBef>
              <a:buFont typeface="Arial MT"/>
              <a:buChar char="•"/>
              <a:tabLst>
                <a:tab pos="294005" algn="l"/>
              </a:tabLst>
            </a:pPr>
            <a:r>
              <a:rPr sz="1800" b="0" dirty="0">
                <a:solidFill>
                  <a:srgbClr val="374155"/>
                </a:solidFill>
                <a:latin typeface="Times New Roman"/>
              </a:rPr>
              <a:t>Deploy frontend, backend and MongoDB Atlas in a production cloud environment.
Add invitation-based sharing, roles and fine-grained document permissions.
</a:t>
            </a:r>
            <a:r>
              <a:rPr lang="en-IN" dirty="0">
                <a:solidFill>
                  <a:srgbClr val="374155"/>
                </a:solidFill>
                <a:latin typeface="Times New Roman"/>
              </a:rPr>
              <a:t>I</a:t>
            </a:r>
            <a:r>
              <a:rPr sz="1800" b="0" dirty="0" err="1">
                <a:solidFill>
                  <a:srgbClr val="374155"/>
                </a:solidFill>
                <a:latin typeface="Times New Roman"/>
              </a:rPr>
              <a:t>ntroduce</a:t>
            </a:r>
            <a:r>
              <a:rPr sz="1800" b="0" dirty="0">
                <a:solidFill>
                  <a:srgbClr val="374155"/>
                </a:solidFill>
                <a:latin typeface="Times New Roman"/>
              </a:rPr>
              <a:t> Redis/pub-sub or a managed collaboration service for multi-server WebSocket scaling.
Add offline-first editing and automatic reconnection with durable CRDT persistence.
Add document comments, mentions, notifications and richer collaboration analytics.
Add encryption-at-rest/key management, audit logs and stronger enterprise security controls.</a:t>
            </a:r>
            <a:endParaRPr sz="3200" dirty="0">
              <a:latin typeface="Calibri"/>
              <a:cs typeface="Calibri"/>
            </a:endParaRPr>
          </a:p>
        </p:txBody>
      </p:sp>
      <p:pic>
        <p:nvPicPr>
          <p:cNvPr id="4" name="object 4"/>
          <p:cNvPicPr/>
          <p:nvPr/>
        </p:nvPicPr>
        <p:blipFill>
          <a:blip r:embed="rId2" cstate="print"/>
          <a:stretch>
            <a:fillRect/>
          </a:stretch>
        </p:blipFill>
        <p:spPr>
          <a:xfrm>
            <a:off x="357352" y="191626"/>
            <a:ext cx="1135116" cy="1342883"/>
          </a:xfrm>
          <a:prstGeom prst="rect">
            <a:avLst/>
          </a:prstGeom>
        </p:spPr>
      </p:pic>
      <p:pic>
        <p:nvPicPr>
          <p:cNvPr id="5" name="object 5"/>
          <p:cNvPicPr/>
          <p:nvPr/>
        </p:nvPicPr>
        <p:blipFill>
          <a:blip r:embed="rId3" cstate="print"/>
          <a:stretch>
            <a:fillRect/>
          </a:stretch>
        </p:blipFill>
        <p:spPr>
          <a:xfrm>
            <a:off x="10514231" y="191626"/>
            <a:ext cx="1520113" cy="1342883"/>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73152" tIns="73152" rIns="73152" bIns="73152" rtlCol="0">
            <a:spAutoFit/>
          </a:bodyPr>
          <a:lstStyle/>
          <a:p>
            <a:pPr marL="2359025" algn="l">
              <a:lnSpc>
                <a:spcPct val="100000"/>
              </a:lnSpc>
              <a:spcBef>
                <a:spcPts val="100"/>
              </a:spcBef>
            </a:pPr>
            <a:r>
              <a:rPr sz="3000" b="1" dirty="0">
                <a:solidFill>
                  <a:srgbClr val="5345D2"/>
                </a:solidFill>
                <a:latin typeface="Times New Roman"/>
              </a:rPr>
              <a:t>Conclusion</a:t>
            </a:r>
          </a:p>
        </p:txBody>
      </p:sp>
      <p:sp>
        <p:nvSpPr>
          <p:cNvPr id="3" name="object 3"/>
          <p:cNvSpPr txBox="1"/>
          <p:nvPr/>
        </p:nvSpPr>
        <p:spPr>
          <a:xfrm>
            <a:off x="914400" y="1981199"/>
            <a:ext cx="9144000" cy="3546099"/>
          </a:xfrm>
          <a:prstGeom prst="rect">
            <a:avLst/>
          </a:prstGeom>
        </p:spPr>
        <p:txBody>
          <a:bodyPr vert="horz" wrap="square" lIns="73152" tIns="73152" rIns="73152" bIns="73152" rtlCol="0">
            <a:spAutoFit/>
          </a:bodyPr>
          <a:lstStyle/>
          <a:p>
            <a:pPr marL="298450" indent="-285750" algn="just">
              <a:lnSpc>
                <a:spcPct val="100000"/>
              </a:lnSpc>
              <a:spcBef>
                <a:spcPts val="740"/>
              </a:spcBef>
              <a:buFont typeface="Arial" panose="020B0604020202020204" pitchFamily="34" charset="0"/>
              <a:buChar char="•"/>
              <a:tabLst>
                <a:tab pos="294005" algn="l"/>
              </a:tabLst>
            </a:pPr>
            <a:r>
              <a:rPr sz="1800" b="0" dirty="0">
                <a:solidFill>
                  <a:srgbClr val="374155"/>
                </a:solidFill>
                <a:latin typeface="Times New Roman"/>
              </a:rPr>
              <a:t>The project demonstrates a cloud-ready collaborative document platform that combines:
Real-time editing using </a:t>
            </a:r>
            <a:r>
              <a:rPr sz="1800" b="0" dirty="0" err="1">
                <a:solidFill>
                  <a:srgbClr val="374155"/>
                </a:solidFill>
                <a:latin typeface="Times New Roman"/>
              </a:rPr>
              <a:t>Tiptap</a:t>
            </a:r>
            <a:r>
              <a:rPr sz="1800" b="0" dirty="0">
                <a:solidFill>
                  <a:srgbClr val="374155"/>
                </a:solidFill>
                <a:latin typeface="Times New Roman"/>
              </a:rPr>
              <a:t> + Y.js CRDT
WebSocket-based synchronization and collaborator awareness
MongoDB persistence and immutable version history
JWT authentication and protected backend services</a:t>
            </a:r>
            <a:r>
              <a:rPr lang="en-IN" sz="1800" b="0" dirty="0">
                <a:solidFill>
                  <a:srgbClr val="374155"/>
                </a:solidFill>
                <a:latin typeface="Times New Roman"/>
              </a:rPr>
              <a:t>
</a:t>
            </a:r>
            <a:r>
              <a:rPr sz="1800" b="0" dirty="0">
                <a:solidFill>
                  <a:srgbClr val="374155"/>
                </a:solidFill>
                <a:latin typeface="Times New Roman"/>
              </a:rPr>
              <a:t>Non-destructive version restoration
Empirical performance benchmarking
Overall, the system provides a practical foundation for collaborative cloud applications while demonstrating the key concepts of synchronization, conflict resolution, persistence and scalability.</a:t>
            </a:r>
            <a:endParaRPr sz="3200" dirty="0">
              <a:latin typeface="Calibri"/>
              <a:cs typeface="Calibri"/>
            </a:endParaRPr>
          </a:p>
        </p:txBody>
      </p:sp>
      <p:pic>
        <p:nvPicPr>
          <p:cNvPr id="4" name="object 4"/>
          <p:cNvPicPr/>
          <p:nvPr/>
        </p:nvPicPr>
        <p:blipFill>
          <a:blip r:embed="rId2" cstate="print"/>
          <a:stretch>
            <a:fillRect/>
          </a:stretch>
        </p:blipFill>
        <p:spPr>
          <a:xfrm>
            <a:off x="357352" y="191626"/>
            <a:ext cx="1135116" cy="1342883"/>
          </a:xfrm>
          <a:prstGeom prst="rect">
            <a:avLst/>
          </a:prstGeom>
        </p:spPr>
      </p:pic>
      <p:pic>
        <p:nvPicPr>
          <p:cNvPr id="5" name="object 5"/>
          <p:cNvPicPr/>
          <p:nvPr/>
        </p:nvPicPr>
        <p:blipFill>
          <a:blip r:embed="rId3" cstate="print"/>
          <a:stretch>
            <a:fillRect/>
          </a:stretch>
        </p:blipFill>
        <p:spPr>
          <a:xfrm>
            <a:off x="10514231" y="191626"/>
            <a:ext cx="1520113" cy="134288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73152" tIns="73152" rIns="73152" bIns="73152" rtlCol="0">
            <a:spAutoFit/>
          </a:bodyPr>
          <a:lstStyle/>
          <a:p>
            <a:pPr marL="2334260" algn="l">
              <a:lnSpc>
                <a:spcPct val="100000"/>
              </a:lnSpc>
              <a:spcBef>
                <a:spcPts val="100"/>
              </a:spcBef>
            </a:pPr>
            <a:r>
              <a:rPr sz="3000" b="1" dirty="0">
                <a:solidFill>
                  <a:srgbClr val="5345D2"/>
                </a:solidFill>
                <a:latin typeface="Times New Roman"/>
              </a:rPr>
              <a:t>References</a:t>
            </a:r>
          </a:p>
        </p:txBody>
      </p:sp>
      <p:sp>
        <p:nvSpPr>
          <p:cNvPr id="3" name="object 3"/>
          <p:cNvSpPr txBox="1"/>
          <p:nvPr/>
        </p:nvSpPr>
        <p:spPr>
          <a:xfrm>
            <a:off x="743579" y="1609345"/>
            <a:ext cx="9770651" cy="4838761"/>
          </a:xfrm>
          <a:prstGeom prst="rect">
            <a:avLst/>
          </a:prstGeom>
        </p:spPr>
        <p:txBody>
          <a:bodyPr vert="horz" wrap="square" lIns="73152" tIns="73152" rIns="73152" bIns="73152" rtlCol="0">
            <a:spAutoFit/>
          </a:bodyPr>
          <a:lstStyle/>
          <a:p>
            <a:pPr marL="342900" lvl="0" indent="-342900" algn="just">
              <a:buFont typeface="+mj-lt"/>
              <a:buAutoNum type="arabicPeriod"/>
            </a:pPr>
            <a:r>
              <a:rPr lang="en-US" sz="1600" dirty="0">
                <a:latin typeface="Times New Roman" panose="02020603050405020304" pitchFamily="18" charset="0"/>
                <a:cs typeface="Times New Roman" panose="02020603050405020304" pitchFamily="18" charset="0"/>
              </a:rPr>
              <a:t>Fasola, O.S. and Abimbola, M.O., 2023. Collaborative technology for information sharing, knowledge creation and management in libraries. </a:t>
            </a:r>
            <a:r>
              <a:rPr lang="en-US" sz="1600" i="1" dirty="0">
                <a:latin typeface="Times New Roman" panose="02020603050405020304" pitchFamily="18" charset="0"/>
                <a:cs typeface="Times New Roman" panose="02020603050405020304" pitchFamily="18" charset="0"/>
              </a:rPr>
              <a:t>Gateway Information Journal</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24</a:t>
            </a:r>
            <a:r>
              <a:rPr lang="en-US" sz="1600" dirty="0">
                <a:latin typeface="Times New Roman" panose="02020603050405020304" pitchFamily="18" charset="0"/>
                <a:cs typeface="Times New Roman" panose="02020603050405020304" pitchFamily="18" charset="0"/>
              </a:rPr>
              <a:t>(1 &amp; 2), pp.33-46.</a:t>
            </a:r>
            <a:endParaRPr lang="en-IN" sz="1600"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sz="1600" dirty="0">
                <a:latin typeface="Times New Roman" panose="02020603050405020304" pitchFamily="18" charset="0"/>
                <a:cs typeface="Times New Roman" panose="02020603050405020304" pitchFamily="18" charset="0"/>
              </a:rPr>
              <a:t>Castelló, M., Kruse, O., Rapp, C. and Sharples, M., 2023. Synchronous and asynchronous collaborative writing. In </a:t>
            </a:r>
            <a:r>
              <a:rPr lang="en-US" sz="1600" i="1" dirty="0">
                <a:latin typeface="Times New Roman" panose="02020603050405020304" pitchFamily="18" charset="0"/>
                <a:cs typeface="Times New Roman" panose="02020603050405020304" pitchFamily="18" charset="0"/>
              </a:rPr>
              <a:t>Digital writing technologies in higher education: Theory, research, and practice</a:t>
            </a:r>
            <a:r>
              <a:rPr lang="en-US" sz="1600" dirty="0">
                <a:latin typeface="Times New Roman" panose="02020603050405020304" pitchFamily="18" charset="0"/>
                <a:cs typeface="Times New Roman" panose="02020603050405020304" pitchFamily="18" charset="0"/>
              </a:rPr>
              <a:t> (pp. 121-139). Cham: Springer International Publishing.</a:t>
            </a:r>
            <a:endParaRPr lang="en-IN" sz="1600"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sz="1600" dirty="0">
                <a:latin typeface="Times New Roman" panose="02020603050405020304" pitchFamily="18" charset="0"/>
                <a:cs typeface="Times New Roman" panose="02020603050405020304" pitchFamily="18" charset="0"/>
              </a:rPr>
              <a:t>Rodriguez, B.A., Aquiatan, V.T., Verallo, C.J.A., Agpad, S.B., De Loyola, R.C. and Bibangco, E.J.P., 2024, June. Digitalization of document management and monitoring in the Department of the Interior and Local Government Negros Occidental. In </a:t>
            </a:r>
            <a:r>
              <a:rPr lang="en-US" sz="1600" i="1" dirty="0">
                <a:latin typeface="Times New Roman" panose="02020603050405020304" pitchFamily="18" charset="0"/>
                <a:cs typeface="Times New Roman" panose="02020603050405020304" pitchFamily="18" charset="0"/>
              </a:rPr>
              <a:t>2024 15th International Conference on Computing Communication and Networking Technologies (ICCCNT)</a:t>
            </a:r>
            <a:r>
              <a:rPr lang="en-US" sz="1600" dirty="0">
                <a:latin typeface="Times New Roman" panose="02020603050405020304" pitchFamily="18" charset="0"/>
                <a:cs typeface="Times New Roman" panose="02020603050405020304" pitchFamily="18" charset="0"/>
              </a:rPr>
              <a:t> (pp. 1-8). IEEE.</a:t>
            </a:r>
            <a:endParaRPr lang="en-IN" sz="1600"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sz="1600" dirty="0">
                <a:latin typeface="Times New Roman" panose="02020603050405020304" pitchFamily="18" charset="0"/>
                <a:cs typeface="Times New Roman" panose="02020603050405020304" pitchFamily="18" charset="0"/>
              </a:rPr>
              <a:t>Hammad, M., Iqbal, J., Hassan, C.A.U., Hussain, S., Ullah, S.S., Uddin, M., Malik, U.A., Abdelhaq, M. and Alsaqour, R., 2023. Blockchain-based decentralized architecture for software version control. </a:t>
            </a:r>
            <a:r>
              <a:rPr lang="en-US" sz="1600" i="1" dirty="0">
                <a:latin typeface="Times New Roman" panose="02020603050405020304" pitchFamily="18" charset="0"/>
                <a:cs typeface="Times New Roman" panose="02020603050405020304" pitchFamily="18" charset="0"/>
              </a:rPr>
              <a:t>Applied Sciences</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13</a:t>
            </a:r>
            <a:r>
              <a:rPr lang="en-US" sz="1600" dirty="0">
                <a:latin typeface="Times New Roman" panose="02020603050405020304" pitchFamily="18" charset="0"/>
                <a:cs typeface="Times New Roman" panose="02020603050405020304" pitchFamily="18" charset="0"/>
              </a:rPr>
              <a:t>(5), p.3066.</a:t>
            </a:r>
            <a:endParaRPr lang="en-IN" sz="1600"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sz="1600" dirty="0">
                <a:latin typeface="Times New Roman" panose="02020603050405020304" pitchFamily="18" charset="0"/>
                <a:cs typeface="Times New Roman" panose="02020603050405020304" pitchFamily="18" charset="0"/>
              </a:rPr>
              <a:t>Chen, K.Y., Toro-Moreno, M. and Subramaniam, A.R., 2025. GitHub is an effective platform for collaborative and reproducible laboratory research. </a:t>
            </a:r>
            <a:r>
              <a:rPr lang="en-US" sz="1600" i="1" dirty="0">
                <a:latin typeface="Times New Roman" panose="02020603050405020304" pitchFamily="18" charset="0"/>
                <a:cs typeface="Times New Roman" panose="02020603050405020304" pitchFamily="18" charset="0"/>
              </a:rPr>
              <a:t>ArXiv</a:t>
            </a:r>
            <a:r>
              <a:rPr lang="en-US" sz="1600" dirty="0">
                <a:latin typeface="Times New Roman" panose="02020603050405020304" pitchFamily="18" charset="0"/>
                <a:cs typeface="Times New Roman" panose="02020603050405020304" pitchFamily="18" charset="0"/>
              </a:rPr>
              <a:t>, pp.arXiv-2408.</a:t>
            </a:r>
            <a:endParaRPr lang="en-IN" sz="1600" dirty="0">
              <a:latin typeface="Times New Roman" panose="02020603050405020304" pitchFamily="18" charset="0"/>
              <a:cs typeface="Times New Roman" panose="02020603050405020304" pitchFamily="18" charset="0"/>
            </a:endParaRPr>
          </a:p>
          <a:p>
            <a:pPr marL="342900" lvl="0" indent="-342900" algn="just">
              <a:buFont typeface="+mj-lt"/>
              <a:buAutoNum type="arabicPeriod"/>
            </a:pPr>
            <a:r>
              <a:rPr lang="en-US" sz="1600" dirty="0">
                <a:latin typeface="Times New Roman" panose="02020603050405020304" pitchFamily="18" charset="0"/>
                <a:cs typeface="Times New Roman" panose="02020603050405020304" pitchFamily="18" charset="0"/>
              </a:rPr>
              <a:t>Scroggie, K.R., Burrell-Sander, K.J., Rutledge, P.J. and Motion, A., 2023. GitHub as an open electronic laboratory notebook for real-time sharing of knowledge and collaboration. </a:t>
            </a:r>
            <a:r>
              <a:rPr lang="en-US" sz="1600" i="1" dirty="0">
                <a:latin typeface="Times New Roman" panose="02020603050405020304" pitchFamily="18" charset="0"/>
                <a:cs typeface="Times New Roman" panose="02020603050405020304" pitchFamily="18" charset="0"/>
              </a:rPr>
              <a:t>Digital Discovery</a:t>
            </a:r>
            <a:r>
              <a:rPr lang="en-US" sz="1600" dirty="0">
                <a:latin typeface="Times New Roman" panose="02020603050405020304" pitchFamily="18" charset="0"/>
                <a:cs typeface="Times New Roman" panose="02020603050405020304" pitchFamily="18" charset="0"/>
              </a:rPr>
              <a:t>, </a:t>
            </a:r>
            <a:r>
              <a:rPr lang="en-US" sz="1600" i="1" dirty="0">
                <a:latin typeface="Times New Roman" panose="02020603050405020304" pitchFamily="18" charset="0"/>
                <a:cs typeface="Times New Roman" panose="02020603050405020304" pitchFamily="18" charset="0"/>
              </a:rPr>
              <a:t>2</a:t>
            </a:r>
            <a:r>
              <a:rPr lang="en-US" sz="1600" dirty="0">
                <a:latin typeface="Times New Roman" panose="02020603050405020304" pitchFamily="18" charset="0"/>
                <a:cs typeface="Times New Roman" panose="02020603050405020304" pitchFamily="18" charset="0"/>
              </a:rPr>
              <a:t>(4), pp.1188-1196.</a:t>
            </a:r>
            <a:endParaRPr lang="en-IN" sz="1600" dirty="0">
              <a:latin typeface="Times New Roman" panose="02020603050405020304" pitchFamily="18" charset="0"/>
              <a:cs typeface="Times New Roman" panose="02020603050405020304" pitchFamily="18" charset="0"/>
            </a:endParaRPr>
          </a:p>
          <a:p>
            <a:pPr marL="12700" algn="l">
              <a:lnSpc>
                <a:spcPct val="100000"/>
              </a:lnSpc>
              <a:spcBef>
                <a:spcPts val="100"/>
              </a:spcBef>
              <a:tabLst>
                <a:tab pos="294005" algn="l"/>
              </a:tabLst>
            </a:pPr>
            <a:endParaRPr sz="3200" dirty="0">
              <a:latin typeface="Calibri"/>
              <a:cs typeface="Calibri"/>
            </a:endParaRPr>
          </a:p>
        </p:txBody>
      </p:sp>
      <p:pic>
        <p:nvPicPr>
          <p:cNvPr id="4" name="object 4"/>
          <p:cNvPicPr/>
          <p:nvPr/>
        </p:nvPicPr>
        <p:blipFill>
          <a:blip r:embed="rId2" cstate="print"/>
          <a:stretch>
            <a:fillRect/>
          </a:stretch>
        </p:blipFill>
        <p:spPr>
          <a:xfrm>
            <a:off x="357352" y="191626"/>
            <a:ext cx="1135116" cy="1342883"/>
          </a:xfrm>
          <a:prstGeom prst="rect">
            <a:avLst/>
          </a:prstGeom>
        </p:spPr>
      </p:pic>
      <p:pic>
        <p:nvPicPr>
          <p:cNvPr id="5" name="object 5"/>
          <p:cNvPicPr/>
          <p:nvPr/>
        </p:nvPicPr>
        <p:blipFill>
          <a:blip r:embed="rId3" cstate="print"/>
          <a:stretch>
            <a:fillRect/>
          </a:stretch>
        </p:blipFill>
        <p:spPr>
          <a:xfrm>
            <a:off x="10514231" y="191626"/>
            <a:ext cx="1520113" cy="1342883"/>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1295400" y="2667000"/>
            <a:ext cx="6647105" cy="640175"/>
          </a:xfrm>
          <a:prstGeom prst="rect">
            <a:avLst/>
          </a:prstGeom>
        </p:spPr>
        <p:txBody>
          <a:bodyPr vert="horz" wrap="square" lIns="73152" tIns="73152" rIns="73152" bIns="73152" rtlCol="0">
            <a:spAutoFit/>
          </a:bodyPr>
          <a:lstStyle/>
          <a:p>
            <a:pPr marL="2324100" algn="ctr">
              <a:lnSpc>
                <a:spcPct val="100000"/>
              </a:lnSpc>
              <a:spcBef>
                <a:spcPts val="100"/>
              </a:spcBef>
            </a:pPr>
            <a:r>
              <a:rPr sz="3200" b="1" dirty="0">
                <a:solidFill>
                  <a:srgbClr val="202D48"/>
                </a:solidFill>
                <a:latin typeface="Times New Roman"/>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312</TotalTime>
  <Words>1474</Words>
  <Application>Microsoft Office PowerPoint</Application>
  <PresentationFormat>Widescreen</PresentationFormat>
  <Paragraphs>117</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Arial MT</vt:lpstr>
      <vt:lpstr>Calibri</vt:lpstr>
      <vt:lpstr>Times New Roman</vt:lpstr>
      <vt:lpstr>Wingdings</vt:lpstr>
      <vt:lpstr>Office Theme</vt:lpstr>
      <vt:lpstr>Cloud-Based Collaborative Document Editing
and Version Control Platform</vt:lpstr>
      <vt:lpstr>Table of Content</vt:lpstr>
      <vt:lpstr>Introduction</vt:lpstr>
      <vt:lpstr>Objectives</vt:lpstr>
      <vt:lpstr>Literature Review / Background</vt:lpstr>
      <vt:lpstr>Methodology</vt:lpstr>
      <vt:lpstr>PowerPoint Presentation</vt:lpstr>
      <vt:lpstr>Module 1-Real-Time Collaborative Rich-Text Editing  </vt:lpstr>
      <vt:lpstr>Module-2- Version Control and Document History</vt:lpstr>
      <vt:lpstr>Results &amp; Discussion</vt:lpstr>
      <vt:lpstr>Challenges &amp; Limitations</vt:lpstr>
      <vt:lpstr>Future Scope</vt:lpstr>
      <vt:lpstr>Conclusion</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Shri Shanmuga Priya</dc:creator>
  <cp:lastModifiedBy>Lakshmi Ankala</cp:lastModifiedBy>
  <cp:revision>7</cp:revision>
  <dcterms:created xsi:type="dcterms:W3CDTF">2026-08-12T14:16:02Z</dcterms:created>
  <dcterms:modified xsi:type="dcterms:W3CDTF">2026-09-01T04:59:03Z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v10.0.19910.1</vt:lpwstr>
  </property>
  <property fmtid="{D5CDD505-2E9C-101B-9397-08002B2CF9AE}" pid="3" name="Created">
    <vt:filetime>2026-08-12T00:00:00Z</vt:filetime>
  </property>
  <property fmtid="{D5CDD505-2E9C-101B-9397-08002B2CF9AE}" pid="4" name="Creator">
    <vt:lpwstr>Google</vt:lpwstr>
  </property>
  <property fmtid="{D5CDD505-2E9C-101B-9397-08002B2CF9AE}" pid="5" name="LastSaved">
    <vt:filetime>2026-08-12T00:00:00Z</vt:filetime>
  </property>
</Properties>
</file>