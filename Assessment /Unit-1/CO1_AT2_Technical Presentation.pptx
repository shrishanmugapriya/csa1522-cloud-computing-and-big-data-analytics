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Playfair Display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902DAA-5A31-4F13-AAAF-3BDF9098401C}">
  <a:tblStyle styleId="{51902DAA-5A31-4F13-AAAF-3BDF909840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Inter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61d24a7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61d24a7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61d24a7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12.png"/><Relationship Id="rId12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title="Screenshot 2026-08-01 at 11.50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175" y="152400"/>
            <a:ext cx="8377874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2635045" y="1254026"/>
            <a:ext cx="7079226" cy="58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CSA1522-Cloud Computing and Big Data Analytics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794387" y="2637504"/>
            <a:ext cx="8760543" cy="786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1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Comparative Analysis of IaaS, PaaS, and SaaS for Educational Institutions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462684" y="4187694"/>
            <a:ext cx="35592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Shri Shanmuga Priya K – 192324035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Lakshmi A -192373066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855839" y="4445029"/>
            <a:ext cx="18730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Guided by: Rajaram P</a:t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387" y="280534"/>
            <a:ext cx="8234517" cy="78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4558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1545580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primary difference between cloud service models lies in the division of responsibility between the institution and the cloud provider.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5510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04850" y="260639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2604492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On-Premises: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institution manages the entire stack, from physical hardware to applications. High control, but high capital and maintenance costs.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04850" y="358910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3587204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Infrastructure as a Service (IaaS):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provider manages physical hardware and virtualization. You manage OS, data, and applications.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04850" y="457182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4569916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Platform as a Service (PaaS):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provider handles infrastructure and OS/runtime environments. You focus on application code and data.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04850" y="555453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09625" y="5552628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Software as a Service (SaaS):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provider manages the entire stack. You simply consume the application as a user.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Cloud Control Spectrum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4154"/>
            <a:ext cx="3492549" cy="3779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44154"/>
            <a:ext cx="3492549" cy="3779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44154"/>
            <a:ext cx="3492549" cy="3779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463254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027664" y="3558629"/>
            <a:ext cx="5800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IaaS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36600" y="4025354"/>
            <a:ext cx="23622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Infrastructure as a Service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4457700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foundational computing resources (virtual machines, networking, storage) on demand over the internet.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463254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55957" y="3558629"/>
            <a:ext cx="6800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PaaS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162550" y="4025354"/>
            <a:ext cx="1866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Platform as a Service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45074" y="4457700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Delivers a managed framework for developers to build, test, and deploy custom applications without infrastructure headaches.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463254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534257" y="3558629"/>
            <a:ext cx="6800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SaaS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917037" y="4025354"/>
            <a:ext cx="19145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Software as a Service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23374" y="4457700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Delivers fully managed, ready-to-use software applications over the internet, typically accessed via a web browser.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66327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66327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8549" y="2663279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Defining the Core Cloud Models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6667500" y="1062483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IaaS in Action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67500" y="1862583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Research Computing Environments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667500" y="2519808"/>
            <a:ext cx="49530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university physics department needs massive computing power for a short-term data analysis project, but buying physical servers is cost-prohibitive.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67500" y="3578721"/>
            <a:ext cx="49530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IaaS Solution: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IT team provisions high-performance Virtual Machines (VMs) and block storage on an IaaS platform (like AWS or Azure). The researchers install their specialized OS and custom analysis software.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67500" y="4927103"/>
            <a:ext cx="49530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Benefit: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Complete control over the specific environment required, rapid provisioning, and they only pay for the compute time used during the research phase.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773013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PaaS in Action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1573113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 Student Portal Development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230338"/>
            <a:ext cx="49530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university wants to build a unique, custom mobile application for students to track shuttle buses and check dining hall menus, but lacks a large IT operations team.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3578721"/>
            <a:ext cx="49530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PaaS Solution: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Student developers and IT staff use a PaaS environment (like Heroku or Google App Engine). They write the code and connect to a managed database provided by the platform.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4927103"/>
            <a:ext cx="49530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Benefit: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Faster time-to-market. The platform automatically handles security patching of the OS, load balancing during high traffic times (like lunch), and infrastructure management.</a:t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18738" r="18321" t="0"/>
          <a:stretch/>
        </p:blipFill>
        <p:spPr>
          <a:xfrm>
            <a:off x="5772150" y="138419"/>
            <a:ext cx="6213373" cy="658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6667500" y="1062483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SaaS in Action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67500" y="1862583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Learning Management Systems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67500" y="2519808"/>
            <a:ext cx="49530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Providing a robust, always-available platform for course materials, grading, and student communication across the entire university.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67500" y="3578721"/>
            <a:ext cx="49530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SaaS Solution: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university subscribes to a cloud-hosted Learning Management System (LMS) like Canvas or Blackboard.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67500" y="4637633"/>
            <a:ext cx="49530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Benefit:</a:t>
            </a:r>
            <a:r>
              <a:rPr b="0" i="0" lang="en-US" sz="14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Zero infrastructure to maintain. The provider handles all software updates, security patches, backups, and scaling during peak exam periods. Users simply log in and use the tools.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571500" y="1441698"/>
            <a:ext cx="11049000" cy="498440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20"/>
          <p:cNvGraphicFramePr/>
          <p:nvPr/>
        </p:nvGraphicFramePr>
        <p:xfrm>
          <a:off x="571500" y="14416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{51902DAA-5A31-4F13-AAAF-3BDF9098401C}</a:tableStyleId>
              </a:tblPr>
              <a:tblGrid>
                <a:gridCol w="2026450"/>
                <a:gridCol w="3153825"/>
                <a:gridCol w="2975675"/>
                <a:gridCol w="2893075"/>
              </a:tblGrid>
              <a:tr h="83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IaaS (Infrastructure)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PaaS (Platform)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SaaS (Software)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83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Administrators, Network Architects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Developers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 Users (Students, Faculty, Staff)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of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(OS, Network, Data, Apps)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 (Data, Apps)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(User Access, App Configuration)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Management Burden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(Requires specialized IT staff)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 (Focus on coding)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(Managed by vendor)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to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Days to Weeks (Configuration required)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Hours to Days (Focus on deployment)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Immediate (Ready to use)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Educational Examples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Hosting legacy student information databases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Developing a custom campus navigation 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(Google Workspace), LMS (Canvas)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/>
          <p:nvPr/>
        </p:nvSpPr>
        <p:spPr>
          <a:xfrm>
            <a:off x="571500" y="1955006"/>
            <a:ext cx="202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597943" y="1955006"/>
            <a:ext cx="3153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51760" y="1955006"/>
            <a:ext cx="2975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727430" y="1955006"/>
            <a:ext cx="2893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1500" y="2848272"/>
            <a:ext cx="202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597943" y="2848272"/>
            <a:ext cx="3153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51760" y="2848272"/>
            <a:ext cx="2975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8727430" y="2848272"/>
            <a:ext cx="2893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3741539"/>
            <a:ext cx="202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597943" y="3741539"/>
            <a:ext cx="3153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751760" y="3741539"/>
            <a:ext cx="2975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727430" y="3741539"/>
            <a:ext cx="2893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0" y="4634805"/>
            <a:ext cx="202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597943" y="4634805"/>
            <a:ext cx="3153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51760" y="4634805"/>
            <a:ext cx="2975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8727430" y="4634805"/>
            <a:ext cx="2893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1500" y="5528071"/>
            <a:ext cx="202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597943" y="5528071"/>
            <a:ext cx="3153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51760" y="5528071"/>
            <a:ext cx="2975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727430" y="5528071"/>
            <a:ext cx="2893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32048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Summary: Choosing the Right Model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11368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2723536" y="2590318"/>
            <a:ext cx="633197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